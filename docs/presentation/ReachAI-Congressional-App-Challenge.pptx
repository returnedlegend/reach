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Raman: Hi, I am Raman Jamal, an 11th-grade student at Bryan High. Aran: And I am Aran Jamal, a 7th-grade student at Davila. Together: This is ReachAI, designed to make finding food assistance simpler. This deck shows actual local app screenshots captured October 25, 2026 Central time.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USDA reports that 13.7 percent of U.S. households experienced food insecurity in 2024—about one in seven. 47.9 million people lived in food-insecure households. This is not a pantry-use statistic and does not measure lack of awareness. Source: https://www.ers.usda.gov/topics/food-nutrition-assistance/food-security-in-the-us/key-statistics-graphics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ReachAI focuses on three practical questions: where can I go, will it fit my needs, and how do I get there? The design prioritizes simple actions and readable information over long forms. We have not measured how many people miss pantry help because of lack of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home screen, describe what you need. A user can choose a starting location or enter an address. Food search does not require an account. The current screenshots are real local captures. The AI checkbox is a preference, not evidence that a live AI request succeeded.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maintained directory has 66 pantry and food-distribution sites after source and district checks. They are not all unrestricted walk-in pantries: some are senior grocery programs. This screenshot is a directory result, not a live AI recommendation. Food stock and pickup entrances have not been verified on-site.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 combines comparison logic with AI-assisted interpretation and explanation. AI must use the directory facts. This local session had no configured Groq key, so live AI was not exercised for these slides. Do not claim a successful live summary unless you demonstrate one during recording. The app cannot guarantee the perfect pantry.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Community members can submit pickup events or sealed, shelf-stable groceries without creating an account. Listings require moderator approval before they become public. Approved active listings can appear alongside pantry options. No real submission was created while capturing this deck. Review is not a guarantee of food safety or availability.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ReachAI uses Next.js, React, TypeScript, and SQLite. OpenStreetMap-based mapping and hosted AI are external services. Search and source-backed information remain useful when those services fail. Explain your own contributions honestly and disclose AI development assistance where submission rules require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recorded project checks include 661 unit tests and 14 mobile/desktop browser checks for the latest UI changes; TypeScript and production build passed. This is not a new full audit of every workflow. During this screenshot session AI was unconfigured and the basemap failed to load, so no successful live AI or map demonstration is claimed. Next priorities are real-user testing, provider confirmation and deployed installation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ReachAI does not solve food insecurity alone. Its goal is to make a practical next step easier. We are Raman Jamal and Aran Jamal, and this is ReachAI. Thank you. Add a real public demo URL or QR code only after deployment is verified; none has been invented here.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appendix; keep available for judges, but it need not be narrated. Source statistics were directly checked on the USDA webpage in this conversation. Screenshot capture: October25,2026 America/Chicago. Software checks are historical reported checks from the latest changes, not user impact measurements. Presenters: Raman Jamal, Bryan High, 11th grade; Aran Jamal, Davila, 7th grade.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820"/>
        </a:solidFill>
        <a:effectLst/>
      </p:bgPr>
    </p:bg>
    <p:spTree>
      <p:nvGrpSpPr>
        <p:cNvPr id="1" name=""/>
        <p:cNvGrpSpPr/>
        <p:nvPr/>
      </p:nvGrpSpPr>
      <p:grpSpPr/>
      <p:sp>
        <p:nvSpPr>
          <p:cNvPr id="2" name="TextBox 1"/>
          <p:cNvSpPr txBox="1"/>
          <p:nvPr/>
        </p:nvSpPr>
        <p:spPr>
          <a:xfrm>
            <a:off x="495299" y="266700"/>
            <a:ext cx="2667000" cy="409575"/>
          </a:xfrm>
          <a:prstGeom prst="rect">
            <a:avLst/>
          </a:prstGeom>
          <a:noFill/>
        </p:spPr>
        <p:txBody>
          <a:bodyPr wrap="none" lIns="0" rIns="0" tIns="0" bIns="0">
            <a:spAutoFit/>
          </a:bodyPr>
          <a:lstStyle/>
          <a:p>
            <a:pPr>
              <a:spcAft>
                <a:spcPts val="450"/>
              </a:spcAft>
              <a:defRPr sz="1500" b="1">
                <a:solidFill>
                  <a:srgbClr val="56E3CF"/>
                </a:solidFill>
                <a:latin typeface="DejaVu Sans"/>
              </a:defRPr>
            </a:pPr>
            <a:r>
              <a:t>ReachAI</a:t>
            </a:r>
          </a:p>
        </p:txBody>
      </p:sp>
      <p:sp>
        <p:nvSpPr>
          <p:cNvPr id="3" name="TextBox 2"/>
          <p:cNvSpPr txBox="1"/>
          <p:nvPr/>
        </p:nvSpPr>
        <p:spPr>
          <a:xfrm>
            <a:off x="6629400" y="297180"/>
            <a:ext cx="5029200" cy="327279"/>
          </a:xfrm>
          <a:prstGeom prst="rect">
            <a:avLst/>
          </a:prstGeom>
          <a:noFill/>
        </p:spPr>
        <p:txBody>
          <a:bodyPr wrap="none" lIns="0" rIns="0" tIns="0" bIns="0">
            <a:spAutoFit/>
          </a:bodyPr>
          <a:lstStyle/>
          <a:p>
            <a:pPr>
              <a:spcAft>
                <a:spcPts val="306"/>
              </a:spcAft>
              <a:defRPr sz="1019" b="0">
                <a:solidFill>
                  <a:srgbClr val="ABC1CA"/>
                </a:solidFill>
                <a:latin typeface="DejaVu Sans"/>
              </a:defRPr>
            </a:pPr>
            <a:r>
              <a:t>A PRACTICAL NEXT STEP</a:t>
            </a:r>
          </a:p>
        </p:txBody>
      </p:sp>
      <p:sp>
        <p:nvSpPr>
          <p:cNvPr id="4" name="Rectangle 3"/>
          <p:cNvSpPr/>
          <p:nvPr/>
        </p:nvSpPr>
        <p:spPr>
          <a:xfrm>
            <a:off x="495299" y="693420"/>
            <a:ext cx="11201400" cy="15240"/>
          </a:xfrm>
          <a:prstGeom prst="rect">
            <a:avLst/>
          </a:prstGeom>
          <a:solidFill>
            <a:srgbClr val="2C46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5299" y="6522720"/>
            <a:ext cx="7620000" cy="306705"/>
          </a:xfrm>
          <a:prstGeom prst="rect">
            <a:avLst/>
          </a:prstGeom>
          <a:noFill/>
        </p:spPr>
        <p:txBody>
          <a:bodyPr wrap="none" lIns="0" rIns="0" tIns="0" bIns="0">
            <a:spAutoFit/>
          </a:bodyPr>
          <a:lstStyle/>
          <a:p>
            <a:pPr>
              <a:spcAft>
                <a:spcPts val="270"/>
              </a:spcAft>
              <a:defRPr sz="900" b="0">
                <a:solidFill>
                  <a:srgbClr val="ABC1CA"/>
                </a:solidFill>
                <a:latin typeface="DejaVu Sans"/>
              </a:defRPr>
            </a:pPr>
            <a:r>
              <a:t>CONGRESSIONAL APP CHALLENGE</a:t>
            </a:r>
          </a:p>
        </p:txBody>
      </p:sp>
      <p:sp>
        <p:nvSpPr>
          <p:cNvPr id="6" name="TextBox 5"/>
          <p:cNvSpPr txBox="1"/>
          <p:nvPr/>
        </p:nvSpPr>
        <p:spPr>
          <a:xfrm>
            <a:off x="11125200" y="6477000"/>
            <a:ext cx="495299" cy="378714"/>
          </a:xfrm>
          <a:prstGeom prst="rect">
            <a:avLst/>
          </a:prstGeom>
          <a:noFill/>
        </p:spPr>
        <p:txBody>
          <a:bodyPr wrap="none" lIns="0" rIns="0" tIns="0" bIns="0">
            <a:spAutoFit/>
          </a:bodyPr>
          <a:lstStyle/>
          <a:p>
            <a:pPr>
              <a:spcAft>
                <a:spcPts val="396"/>
              </a:spcAft>
              <a:defRPr sz="1320" b="0">
                <a:solidFill>
                  <a:srgbClr val="56E3CF"/>
                </a:solidFill>
                <a:latin typeface="DejaVu Sans"/>
              </a:defRPr>
            </a:pPr>
            <a:r>
              <a:t>01</a:t>
            </a:r>
          </a:p>
        </p:txBody>
      </p:sp>
      <p:sp>
        <p:nvSpPr>
          <p:cNvPr id="7" name="TextBox 6"/>
          <p:cNvSpPr txBox="1"/>
          <p:nvPr/>
        </p:nvSpPr>
        <p:spPr>
          <a:xfrm>
            <a:off x="495299" y="1714500"/>
            <a:ext cx="7467599" cy="1757172"/>
          </a:xfrm>
          <a:prstGeom prst="rect">
            <a:avLst/>
          </a:prstGeom>
          <a:noFill/>
        </p:spPr>
        <p:txBody>
          <a:bodyPr wrap="none" lIns="0" rIns="0" tIns="0" bIns="0">
            <a:spAutoFit/>
          </a:bodyPr>
          <a:lstStyle/>
          <a:p>
            <a:pPr>
              <a:spcAft>
                <a:spcPts val="1404"/>
              </a:spcAft>
              <a:defRPr sz="4680" b="1">
                <a:solidFill>
                  <a:srgbClr val="F1F6F7"/>
                </a:solidFill>
                <a:latin typeface="DejaVu Sans"/>
              </a:defRPr>
            </a:pPr>
            <a:r>
              <a:t>Find food.</a:t>
            </a:r>
          </a:p>
          <a:p>
            <a:pPr>
              <a:spcAft>
                <a:spcPts val="1404"/>
              </a:spcAft>
              <a:defRPr sz="4680" b="1">
                <a:solidFill>
                  <a:srgbClr val="F1F6F7"/>
                </a:solidFill>
                <a:latin typeface="DejaVu Sans"/>
              </a:defRPr>
            </a:pPr>
            <a:r>
              <a:t>Find a way forward.</a:t>
            </a:r>
          </a:p>
        </p:txBody>
      </p:sp>
      <p:sp>
        <p:nvSpPr>
          <p:cNvPr id="8" name="TextBox 7"/>
          <p:cNvSpPr txBox="1"/>
          <p:nvPr/>
        </p:nvSpPr>
        <p:spPr>
          <a:xfrm>
            <a:off x="533400" y="3543300"/>
            <a:ext cx="6858000" cy="502158"/>
          </a:xfrm>
          <a:prstGeom prst="rect">
            <a:avLst/>
          </a:prstGeom>
          <a:noFill/>
        </p:spPr>
        <p:txBody>
          <a:bodyPr wrap="none" lIns="0" rIns="0" tIns="0" bIns="0">
            <a:spAutoFit/>
          </a:bodyPr>
          <a:lstStyle/>
          <a:p>
            <a:pPr>
              <a:spcAft>
                <a:spcPts val="612"/>
              </a:spcAft>
              <a:defRPr sz="2039" b="0">
                <a:solidFill>
                  <a:srgbClr val="ABC1CA"/>
                </a:solidFill>
                <a:latin typeface="DejaVu Sans"/>
              </a:defRPr>
            </a:pPr>
            <a:r>
              <a:t>Food assistance, made easier to find.</a:t>
            </a:r>
          </a:p>
        </p:txBody>
      </p:sp>
      <p:sp>
        <p:nvSpPr>
          <p:cNvPr id="9" name="Rounded Rectangle 8"/>
          <p:cNvSpPr/>
          <p:nvPr/>
        </p:nvSpPr>
        <p:spPr>
          <a:xfrm>
            <a:off x="533400" y="4419600"/>
            <a:ext cx="4572000" cy="502920"/>
          </a:xfrm>
          <a:prstGeom prst="roundRect">
            <a:avLst/>
          </a:prstGeom>
          <a:solidFill>
            <a:srgbClr val="56E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8660" y="4556760"/>
            <a:ext cx="4267200" cy="378714"/>
          </a:xfrm>
          <a:prstGeom prst="rect">
            <a:avLst/>
          </a:prstGeom>
          <a:noFill/>
        </p:spPr>
        <p:txBody>
          <a:bodyPr wrap="none" lIns="0" rIns="0" tIns="0" bIns="0">
            <a:spAutoFit/>
          </a:bodyPr>
          <a:lstStyle/>
          <a:p>
            <a:pPr>
              <a:spcAft>
                <a:spcPts val="396"/>
              </a:spcAft>
              <a:defRPr sz="1320" b="1">
                <a:solidFill>
                  <a:srgbClr val="0B1820"/>
                </a:solidFill>
                <a:latin typeface="DejaVu Sans"/>
              </a:defRPr>
            </a:pPr>
            <a:r>
              <a:t>ReachAI / Congressional App Challenge</a:t>
            </a:r>
          </a:p>
        </p:txBody>
      </p:sp>
      <p:sp>
        <p:nvSpPr>
          <p:cNvPr id="11" name="TextBox 10"/>
          <p:cNvSpPr txBox="1"/>
          <p:nvPr/>
        </p:nvSpPr>
        <p:spPr>
          <a:xfrm>
            <a:off x="533400" y="5334000"/>
            <a:ext cx="7315200" cy="666750"/>
          </a:xfrm>
          <a:prstGeom prst="rect">
            <a:avLst/>
          </a:prstGeom>
          <a:noFill/>
        </p:spPr>
        <p:txBody>
          <a:bodyPr wrap="none" lIns="0" rIns="0" tIns="0" bIns="0">
            <a:spAutoFit/>
          </a:bodyPr>
          <a:lstStyle/>
          <a:p>
            <a:pPr>
              <a:spcAft>
                <a:spcPts val="450"/>
              </a:spcAft>
              <a:defRPr sz="1500" b="0">
                <a:solidFill>
                  <a:srgbClr val="ABC1CA"/>
                </a:solidFill>
                <a:latin typeface="DejaVu Sans"/>
              </a:defRPr>
            </a:pPr>
            <a:r>
              <a:t>Raman Jamal · Bryan High · 11th grade</a:t>
            </a:r>
          </a:p>
          <a:p>
            <a:pPr>
              <a:spcAft>
                <a:spcPts val="450"/>
              </a:spcAft>
              <a:defRPr sz="1500" b="0">
                <a:solidFill>
                  <a:srgbClr val="ABC1CA"/>
                </a:solidFill>
                <a:latin typeface="DejaVu Sans"/>
              </a:defRPr>
            </a:pPr>
            <a:r>
              <a:t>Aran Jamal · Davila · 7th grade</a:t>
            </a:r>
          </a:p>
        </p:txBody>
      </p:sp>
      <p:sp>
        <p:nvSpPr>
          <p:cNvPr id="12" name="Rounded Rectangle 11"/>
          <p:cNvSpPr/>
          <p:nvPr/>
        </p:nvSpPr>
        <p:spPr>
          <a:xfrm>
            <a:off x="8633460" y="876300"/>
            <a:ext cx="2545080" cy="5334000"/>
          </a:xfrm>
          <a:prstGeom prst="roundRect">
            <a:avLst/>
          </a:prstGeom>
          <a:solidFill>
            <a:srgbClr val="2C46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home.png"/>
          <p:cNvPicPr>
            <a:picLocks noChangeAspect="1"/>
          </p:cNvPicPr>
          <p:nvPr/>
        </p:nvPicPr>
        <p:blipFill>
          <a:blip r:embed="rId2"/>
          <a:stretch>
            <a:fillRect/>
          </a:stretch>
        </p:blipFill>
        <p:spPr>
          <a:xfrm>
            <a:off x="8709660" y="952500"/>
            <a:ext cx="2392680" cy="51816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820"/>
        </a:solidFill>
        <a:effectLst/>
      </p:bgPr>
    </p:bg>
    <p:spTree>
      <p:nvGrpSpPr>
        <p:cNvPr id="1" name=""/>
        <p:cNvGrpSpPr/>
        <p:nvPr/>
      </p:nvGrpSpPr>
      <p:grpSpPr/>
      <p:sp>
        <p:nvSpPr>
          <p:cNvPr id="2" name="TextBox 1"/>
          <p:cNvSpPr txBox="1"/>
          <p:nvPr/>
        </p:nvSpPr>
        <p:spPr>
          <a:xfrm>
            <a:off x="495299" y="266700"/>
            <a:ext cx="2667000" cy="409575"/>
          </a:xfrm>
          <a:prstGeom prst="rect">
            <a:avLst/>
          </a:prstGeom>
          <a:noFill/>
        </p:spPr>
        <p:txBody>
          <a:bodyPr wrap="none" lIns="0" rIns="0" tIns="0" bIns="0">
            <a:spAutoFit/>
          </a:bodyPr>
          <a:lstStyle/>
          <a:p>
            <a:pPr>
              <a:spcAft>
                <a:spcPts val="450"/>
              </a:spcAft>
              <a:defRPr sz="1500" b="1">
                <a:solidFill>
                  <a:srgbClr val="56E3CF"/>
                </a:solidFill>
                <a:latin typeface="DejaVu Sans"/>
              </a:defRPr>
            </a:pPr>
            <a:r>
              <a:t>ReachAI</a:t>
            </a:r>
          </a:p>
        </p:txBody>
      </p:sp>
      <p:sp>
        <p:nvSpPr>
          <p:cNvPr id="3" name="TextBox 2"/>
          <p:cNvSpPr txBox="1"/>
          <p:nvPr/>
        </p:nvSpPr>
        <p:spPr>
          <a:xfrm>
            <a:off x="6629400" y="297180"/>
            <a:ext cx="5029200" cy="327279"/>
          </a:xfrm>
          <a:prstGeom prst="rect">
            <a:avLst/>
          </a:prstGeom>
          <a:noFill/>
        </p:spPr>
        <p:txBody>
          <a:bodyPr wrap="none" lIns="0" rIns="0" tIns="0" bIns="0">
            <a:spAutoFit/>
          </a:bodyPr>
          <a:lstStyle/>
          <a:p>
            <a:pPr>
              <a:spcAft>
                <a:spcPts val="306"/>
              </a:spcAft>
              <a:defRPr sz="1019" b="0">
                <a:solidFill>
                  <a:srgbClr val="ABC1CA"/>
                </a:solidFill>
                <a:latin typeface="DejaVu Sans"/>
              </a:defRPr>
            </a:pPr>
            <a:r>
              <a:t>THE PROBLEM</a:t>
            </a:r>
          </a:p>
        </p:txBody>
      </p:sp>
      <p:sp>
        <p:nvSpPr>
          <p:cNvPr id="4" name="Rectangle 3"/>
          <p:cNvSpPr/>
          <p:nvPr/>
        </p:nvSpPr>
        <p:spPr>
          <a:xfrm>
            <a:off x="495299" y="693420"/>
            <a:ext cx="11201400" cy="15240"/>
          </a:xfrm>
          <a:prstGeom prst="rect">
            <a:avLst/>
          </a:prstGeom>
          <a:solidFill>
            <a:srgbClr val="2C46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5299" y="1028700"/>
            <a:ext cx="10934700" cy="707898"/>
          </a:xfrm>
          <a:prstGeom prst="rect">
            <a:avLst/>
          </a:prstGeom>
          <a:noFill/>
        </p:spPr>
        <p:txBody>
          <a:bodyPr wrap="none" lIns="0" rIns="0" tIns="0" bIns="0">
            <a:spAutoFit/>
          </a:bodyPr>
          <a:lstStyle/>
          <a:p>
            <a:pPr>
              <a:spcAft>
                <a:spcPts val="971"/>
              </a:spcAft>
              <a:defRPr sz="3240" b="1">
                <a:solidFill>
                  <a:srgbClr val="F1F6F7"/>
                </a:solidFill>
                <a:latin typeface="DejaVu Sans"/>
              </a:defRPr>
            </a:pPr>
            <a:r>
              <a:t>A national problem. A local next step.</a:t>
            </a:r>
          </a:p>
        </p:txBody>
      </p:sp>
      <p:sp>
        <p:nvSpPr>
          <p:cNvPr id="6" name="TextBox 5"/>
          <p:cNvSpPr txBox="1"/>
          <p:nvPr/>
        </p:nvSpPr>
        <p:spPr>
          <a:xfrm>
            <a:off x="495299" y="6522720"/>
            <a:ext cx="7620000" cy="306705"/>
          </a:xfrm>
          <a:prstGeom prst="rect">
            <a:avLst/>
          </a:prstGeom>
          <a:noFill/>
        </p:spPr>
        <p:txBody>
          <a:bodyPr wrap="none" lIns="0" rIns="0" tIns="0" bIns="0">
            <a:spAutoFit/>
          </a:bodyPr>
          <a:lstStyle/>
          <a:p>
            <a:pPr>
              <a:spcAft>
                <a:spcPts val="270"/>
              </a:spcAft>
              <a:defRPr sz="900" b="0">
                <a:solidFill>
                  <a:srgbClr val="ABC1CA"/>
                </a:solidFill>
                <a:latin typeface="DejaVu Sans"/>
              </a:defRPr>
            </a:pPr>
            <a:r>
              <a:t>CONGRESSIONAL APP CHALLENGE</a:t>
            </a:r>
          </a:p>
        </p:txBody>
      </p:sp>
      <p:sp>
        <p:nvSpPr>
          <p:cNvPr id="7" name="TextBox 6"/>
          <p:cNvSpPr txBox="1"/>
          <p:nvPr/>
        </p:nvSpPr>
        <p:spPr>
          <a:xfrm>
            <a:off x="11125200" y="6477000"/>
            <a:ext cx="495299" cy="378714"/>
          </a:xfrm>
          <a:prstGeom prst="rect">
            <a:avLst/>
          </a:prstGeom>
          <a:noFill/>
        </p:spPr>
        <p:txBody>
          <a:bodyPr wrap="none" lIns="0" rIns="0" tIns="0" bIns="0">
            <a:spAutoFit/>
          </a:bodyPr>
          <a:lstStyle/>
          <a:p>
            <a:pPr>
              <a:spcAft>
                <a:spcPts val="396"/>
              </a:spcAft>
              <a:defRPr sz="1320" b="0">
                <a:solidFill>
                  <a:srgbClr val="56E3CF"/>
                </a:solidFill>
                <a:latin typeface="DejaVu Sans"/>
              </a:defRPr>
            </a:pPr>
            <a:r>
              <a:t>02</a:t>
            </a:r>
          </a:p>
        </p:txBody>
      </p:sp>
      <p:sp>
        <p:nvSpPr>
          <p:cNvPr id="8" name="TextBox 7"/>
          <p:cNvSpPr txBox="1"/>
          <p:nvPr/>
        </p:nvSpPr>
        <p:spPr>
          <a:xfrm>
            <a:off x="533400" y="1828800"/>
            <a:ext cx="6858000" cy="1510284"/>
          </a:xfrm>
          <a:prstGeom prst="rect">
            <a:avLst/>
          </a:prstGeom>
          <a:noFill/>
        </p:spPr>
        <p:txBody>
          <a:bodyPr wrap="none" lIns="0" rIns="0" tIns="0" bIns="0">
            <a:spAutoFit/>
          </a:bodyPr>
          <a:lstStyle/>
          <a:p>
            <a:pPr>
              <a:spcAft>
                <a:spcPts val="2376"/>
              </a:spcAft>
              <a:defRPr sz="7920" b="1">
                <a:solidFill>
                  <a:srgbClr val="56E3CF"/>
                </a:solidFill>
                <a:latin typeface="DejaVu Sans"/>
              </a:defRPr>
            </a:pPr>
            <a:r>
              <a:t>≈ 1 in 7</a:t>
            </a:r>
          </a:p>
        </p:txBody>
      </p:sp>
      <p:sp>
        <p:nvSpPr>
          <p:cNvPr id="9" name="TextBox 8"/>
          <p:cNvSpPr txBox="1"/>
          <p:nvPr/>
        </p:nvSpPr>
        <p:spPr>
          <a:xfrm>
            <a:off x="609600" y="3200400"/>
            <a:ext cx="6477000" cy="1016508"/>
          </a:xfrm>
          <a:prstGeom prst="rect">
            <a:avLst/>
          </a:prstGeom>
          <a:noFill/>
        </p:spPr>
        <p:txBody>
          <a:bodyPr wrap="none" lIns="0" rIns="0" tIns="0" bIns="0">
            <a:spAutoFit/>
          </a:bodyPr>
          <a:lstStyle/>
          <a:p>
            <a:pPr>
              <a:spcAft>
                <a:spcPts val="756"/>
              </a:spcAft>
              <a:defRPr sz="2520" b="1">
                <a:solidFill>
                  <a:srgbClr val="F1F6F7"/>
                </a:solidFill>
                <a:latin typeface="DejaVu Sans"/>
              </a:defRPr>
            </a:pPr>
            <a:r>
              <a:t>U.S. households experienced</a:t>
            </a:r>
          </a:p>
          <a:p>
            <a:pPr>
              <a:spcAft>
                <a:spcPts val="756"/>
              </a:spcAft>
              <a:defRPr sz="2520" b="1">
                <a:solidFill>
                  <a:srgbClr val="F1F6F7"/>
                </a:solidFill>
                <a:latin typeface="DejaVu Sans"/>
              </a:defRPr>
            </a:pPr>
            <a:r>
              <a:t>food insecurity in 2024.</a:t>
            </a:r>
          </a:p>
        </p:txBody>
      </p:sp>
      <p:sp>
        <p:nvSpPr>
          <p:cNvPr id="10" name="Rounded Rectangle 9"/>
          <p:cNvSpPr/>
          <p:nvPr/>
        </p:nvSpPr>
        <p:spPr>
          <a:xfrm>
            <a:off x="647700" y="4305300"/>
            <a:ext cx="624840" cy="624840"/>
          </a:xfrm>
          <a:prstGeom prst="roundRect">
            <a:avLst/>
          </a:prstGeom>
          <a:solidFill>
            <a:srgbClr val="56E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493520" y="4305300"/>
            <a:ext cx="624840" cy="624840"/>
          </a:xfrm>
          <a:prstGeom prst="roundRect">
            <a:avLst/>
          </a:prstGeom>
          <a:solidFill>
            <a:srgbClr val="142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339340" y="4305300"/>
            <a:ext cx="624840" cy="624840"/>
          </a:xfrm>
          <a:prstGeom prst="roundRect">
            <a:avLst/>
          </a:prstGeom>
          <a:solidFill>
            <a:srgbClr val="142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185160" y="4305300"/>
            <a:ext cx="624840" cy="624840"/>
          </a:xfrm>
          <a:prstGeom prst="roundRect">
            <a:avLst/>
          </a:prstGeom>
          <a:solidFill>
            <a:srgbClr val="142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030980" y="4305300"/>
            <a:ext cx="624840" cy="624840"/>
          </a:xfrm>
          <a:prstGeom prst="roundRect">
            <a:avLst/>
          </a:prstGeom>
          <a:solidFill>
            <a:srgbClr val="142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876800" y="4305300"/>
            <a:ext cx="624840" cy="624840"/>
          </a:xfrm>
          <a:prstGeom prst="roundRect">
            <a:avLst/>
          </a:prstGeom>
          <a:solidFill>
            <a:srgbClr val="142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722620" y="4305300"/>
            <a:ext cx="624840" cy="624840"/>
          </a:xfrm>
          <a:prstGeom prst="roundRect">
            <a:avLst/>
          </a:prstGeom>
          <a:solidFill>
            <a:srgbClr val="142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924799" y="1905000"/>
            <a:ext cx="3695700" cy="3200400"/>
          </a:xfrm>
          <a:prstGeom prst="roundRect">
            <a:avLst/>
          </a:prstGeom>
          <a:solidFill>
            <a:srgbClr val="142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0" y="2286000"/>
            <a:ext cx="3048000" cy="1057656"/>
          </a:xfrm>
          <a:prstGeom prst="rect">
            <a:avLst/>
          </a:prstGeom>
          <a:noFill/>
        </p:spPr>
        <p:txBody>
          <a:bodyPr wrap="none" lIns="0" rIns="0" tIns="0" bIns="0">
            <a:spAutoFit/>
          </a:bodyPr>
          <a:lstStyle/>
          <a:p>
            <a:pPr>
              <a:spcAft>
                <a:spcPts val="1584"/>
              </a:spcAft>
              <a:defRPr sz="5280" b="1">
                <a:solidFill>
                  <a:srgbClr val="56E3CF"/>
                </a:solidFill>
                <a:latin typeface="DejaVu Sans"/>
              </a:defRPr>
            </a:pPr>
            <a:r>
              <a:t>47.9M</a:t>
            </a:r>
          </a:p>
        </p:txBody>
      </p:sp>
      <p:sp>
        <p:nvSpPr>
          <p:cNvPr id="19" name="TextBox 18"/>
          <p:cNvSpPr txBox="1"/>
          <p:nvPr/>
        </p:nvSpPr>
        <p:spPr>
          <a:xfrm>
            <a:off x="8229600" y="3276600"/>
            <a:ext cx="2971800" cy="749046"/>
          </a:xfrm>
          <a:prstGeom prst="rect">
            <a:avLst/>
          </a:prstGeom>
          <a:noFill/>
        </p:spPr>
        <p:txBody>
          <a:bodyPr wrap="none" lIns="0" rIns="0" tIns="0" bIns="0">
            <a:spAutoFit/>
          </a:bodyPr>
          <a:lstStyle/>
          <a:p>
            <a:pPr>
              <a:spcAft>
                <a:spcPts val="522"/>
              </a:spcAft>
              <a:defRPr sz="1739" b="0">
                <a:solidFill>
                  <a:srgbClr val="F1F6F7"/>
                </a:solidFill>
                <a:latin typeface="DejaVu Sans"/>
              </a:defRPr>
            </a:pPr>
            <a:r>
              <a:t>people lived in</a:t>
            </a:r>
          </a:p>
          <a:p>
            <a:pPr>
              <a:spcAft>
                <a:spcPts val="522"/>
              </a:spcAft>
              <a:defRPr sz="1739" b="0">
                <a:solidFill>
                  <a:srgbClr val="F1F6F7"/>
                </a:solidFill>
                <a:latin typeface="DejaVu Sans"/>
              </a:defRPr>
            </a:pPr>
            <a:r>
              <a:t>food-insecure households</a:t>
            </a:r>
          </a:p>
        </p:txBody>
      </p:sp>
      <p:sp>
        <p:nvSpPr>
          <p:cNvPr id="20" name="TextBox 19"/>
          <p:cNvSpPr txBox="1"/>
          <p:nvPr/>
        </p:nvSpPr>
        <p:spPr>
          <a:xfrm>
            <a:off x="609600" y="5600700"/>
            <a:ext cx="10896600" cy="378714"/>
          </a:xfrm>
          <a:prstGeom prst="rect">
            <a:avLst/>
          </a:prstGeom>
          <a:noFill/>
        </p:spPr>
        <p:txBody>
          <a:bodyPr wrap="none" lIns="0" rIns="0" tIns="0" bIns="0">
            <a:spAutoFit/>
          </a:bodyPr>
          <a:lstStyle/>
          <a:p>
            <a:pPr>
              <a:spcAft>
                <a:spcPts val="396"/>
              </a:spcAft>
              <a:defRPr sz="1320" b="0">
                <a:solidFill>
                  <a:srgbClr val="ABC1CA"/>
                </a:solidFill>
                <a:latin typeface="DejaVu Sans"/>
              </a:defRPr>
            </a:pPr>
            <a:r>
              <a:t>USDA ERS · 2024 data · 13.7% of households ≈ one in seven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820"/>
        </a:solidFill>
        <a:effectLst/>
      </p:bgPr>
    </p:bg>
    <p:spTree>
      <p:nvGrpSpPr>
        <p:cNvPr id="1" name=""/>
        <p:cNvGrpSpPr/>
        <p:nvPr/>
      </p:nvGrpSpPr>
      <p:grpSpPr/>
      <p:sp>
        <p:nvSpPr>
          <p:cNvPr id="2" name="TextBox 1"/>
          <p:cNvSpPr txBox="1"/>
          <p:nvPr/>
        </p:nvSpPr>
        <p:spPr>
          <a:xfrm>
            <a:off x="495299" y="266700"/>
            <a:ext cx="2667000" cy="409575"/>
          </a:xfrm>
          <a:prstGeom prst="rect">
            <a:avLst/>
          </a:prstGeom>
          <a:noFill/>
        </p:spPr>
        <p:txBody>
          <a:bodyPr wrap="none" lIns="0" rIns="0" tIns="0" bIns="0">
            <a:spAutoFit/>
          </a:bodyPr>
          <a:lstStyle/>
          <a:p>
            <a:pPr>
              <a:spcAft>
                <a:spcPts val="450"/>
              </a:spcAft>
              <a:defRPr sz="1500" b="1">
                <a:solidFill>
                  <a:srgbClr val="56E3CF"/>
                </a:solidFill>
                <a:latin typeface="DejaVu Sans"/>
              </a:defRPr>
            </a:pPr>
            <a:r>
              <a:t>ReachAI</a:t>
            </a:r>
          </a:p>
        </p:txBody>
      </p:sp>
      <p:sp>
        <p:nvSpPr>
          <p:cNvPr id="3" name="TextBox 2"/>
          <p:cNvSpPr txBox="1"/>
          <p:nvPr/>
        </p:nvSpPr>
        <p:spPr>
          <a:xfrm>
            <a:off x="6629400" y="297180"/>
            <a:ext cx="5029200" cy="327279"/>
          </a:xfrm>
          <a:prstGeom prst="rect">
            <a:avLst/>
          </a:prstGeom>
          <a:noFill/>
        </p:spPr>
        <p:txBody>
          <a:bodyPr wrap="none" lIns="0" rIns="0" tIns="0" bIns="0">
            <a:spAutoFit/>
          </a:bodyPr>
          <a:lstStyle/>
          <a:p>
            <a:pPr>
              <a:spcAft>
                <a:spcPts val="306"/>
              </a:spcAft>
              <a:defRPr sz="1019" b="0">
                <a:solidFill>
                  <a:srgbClr val="ABC1CA"/>
                </a:solidFill>
                <a:latin typeface="DejaVu Sans"/>
              </a:defRPr>
            </a:pPr>
            <a:r>
              <a:t>THE DESIGN QUESTION</a:t>
            </a:r>
          </a:p>
        </p:txBody>
      </p:sp>
      <p:sp>
        <p:nvSpPr>
          <p:cNvPr id="4" name="Rectangle 3"/>
          <p:cNvSpPr/>
          <p:nvPr/>
        </p:nvSpPr>
        <p:spPr>
          <a:xfrm>
            <a:off x="495299" y="693420"/>
            <a:ext cx="11201400" cy="15240"/>
          </a:xfrm>
          <a:prstGeom prst="rect">
            <a:avLst/>
          </a:prstGeom>
          <a:solidFill>
            <a:srgbClr val="2C46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5299" y="1028700"/>
            <a:ext cx="10934700" cy="707898"/>
          </a:xfrm>
          <a:prstGeom prst="rect">
            <a:avLst/>
          </a:prstGeom>
          <a:noFill/>
        </p:spPr>
        <p:txBody>
          <a:bodyPr wrap="none" lIns="0" rIns="0" tIns="0" bIns="0">
            <a:spAutoFit/>
          </a:bodyPr>
          <a:lstStyle/>
          <a:p>
            <a:pPr>
              <a:spcAft>
                <a:spcPts val="971"/>
              </a:spcAft>
              <a:defRPr sz="3240" b="1">
                <a:solidFill>
                  <a:srgbClr val="F1F6F7"/>
                </a:solidFill>
                <a:latin typeface="DejaVu Sans"/>
              </a:defRPr>
            </a:pPr>
            <a:r>
              <a:t>Make the next decision easier.</a:t>
            </a:r>
          </a:p>
        </p:txBody>
      </p:sp>
      <p:sp>
        <p:nvSpPr>
          <p:cNvPr id="6" name="TextBox 5"/>
          <p:cNvSpPr txBox="1"/>
          <p:nvPr/>
        </p:nvSpPr>
        <p:spPr>
          <a:xfrm>
            <a:off x="495299" y="6522720"/>
            <a:ext cx="7620000" cy="306705"/>
          </a:xfrm>
          <a:prstGeom prst="rect">
            <a:avLst/>
          </a:prstGeom>
          <a:noFill/>
        </p:spPr>
        <p:txBody>
          <a:bodyPr wrap="none" lIns="0" rIns="0" tIns="0" bIns="0">
            <a:spAutoFit/>
          </a:bodyPr>
          <a:lstStyle/>
          <a:p>
            <a:pPr>
              <a:spcAft>
                <a:spcPts val="270"/>
              </a:spcAft>
              <a:defRPr sz="900" b="0">
                <a:solidFill>
                  <a:srgbClr val="ABC1CA"/>
                </a:solidFill>
                <a:latin typeface="DejaVu Sans"/>
              </a:defRPr>
            </a:pPr>
            <a:r>
              <a:t>CONGRESSIONAL APP CHALLENGE</a:t>
            </a:r>
          </a:p>
        </p:txBody>
      </p:sp>
      <p:sp>
        <p:nvSpPr>
          <p:cNvPr id="7" name="TextBox 6"/>
          <p:cNvSpPr txBox="1"/>
          <p:nvPr/>
        </p:nvSpPr>
        <p:spPr>
          <a:xfrm>
            <a:off x="11125200" y="6477000"/>
            <a:ext cx="495299" cy="378714"/>
          </a:xfrm>
          <a:prstGeom prst="rect">
            <a:avLst/>
          </a:prstGeom>
          <a:noFill/>
        </p:spPr>
        <p:txBody>
          <a:bodyPr wrap="none" lIns="0" rIns="0" tIns="0" bIns="0">
            <a:spAutoFit/>
          </a:bodyPr>
          <a:lstStyle/>
          <a:p>
            <a:pPr>
              <a:spcAft>
                <a:spcPts val="396"/>
              </a:spcAft>
              <a:defRPr sz="1320" b="0">
                <a:solidFill>
                  <a:srgbClr val="56E3CF"/>
                </a:solidFill>
                <a:latin typeface="DejaVu Sans"/>
              </a:defRPr>
            </a:pPr>
            <a:r>
              <a:t>03</a:t>
            </a:r>
          </a:p>
        </p:txBody>
      </p:sp>
      <p:sp>
        <p:nvSpPr>
          <p:cNvPr id="8" name="Rounded Rectangle 7"/>
          <p:cNvSpPr/>
          <p:nvPr/>
        </p:nvSpPr>
        <p:spPr>
          <a:xfrm>
            <a:off x="495299" y="2171700"/>
            <a:ext cx="3581400" cy="2895600"/>
          </a:xfrm>
          <a:prstGeom prst="roundRect">
            <a:avLst/>
          </a:prstGeom>
          <a:solidFill>
            <a:srgbClr val="142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3900" y="2438400"/>
            <a:ext cx="3048000" cy="563880"/>
          </a:xfrm>
          <a:prstGeom prst="rect">
            <a:avLst/>
          </a:prstGeom>
          <a:noFill/>
        </p:spPr>
        <p:txBody>
          <a:bodyPr wrap="none" lIns="0" rIns="0" tIns="0" bIns="0">
            <a:spAutoFit/>
          </a:bodyPr>
          <a:lstStyle/>
          <a:p>
            <a:pPr>
              <a:spcAft>
                <a:spcPts val="719"/>
              </a:spcAft>
              <a:defRPr sz="2400" b="1">
                <a:solidFill>
                  <a:srgbClr val="56E3CF"/>
                </a:solidFill>
                <a:latin typeface="DejaVu Sans"/>
              </a:defRPr>
            </a:pPr>
            <a:r>
              <a:t>01</a:t>
            </a:r>
          </a:p>
        </p:txBody>
      </p:sp>
      <p:sp>
        <p:nvSpPr>
          <p:cNvPr id="10" name="TextBox 9"/>
          <p:cNvSpPr txBox="1"/>
          <p:nvPr/>
        </p:nvSpPr>
        <p:spPr>
          <a:xfrm>
            <a:off x="723900" y="3048000"/>
            <a:ext cx="3048000" cy="522732"/>
          </a:xfrm>
          <a:prstGeom prst="rect">
            <a:avLst/>
          </a:prstGeom>
          <a:noFill/>
        </p:spPr>
        <p:txBody>
          <a:bodyPr wrap="none" lIns="0" rIns="0" tIns="0" bIns="0">
            <a:spAutoFit/>
          </a:bodyPr>
          <a:lstStyle/>
          <a:p>
            <a:pPr>
              <a:spcAft>
                <a:spcPts val="648"/>
              </a:spcAft>
              <a:defRPr sz="2160" b="1">
                <a:solidFill>
                  <a:srgbClr val="F1F6F7"/>
                </a:solidFill>
                <a:latin typeface="DejaVu Sans"/>
              </a:defRPr>
            </a:pPr>
            <a:r>
              <a:t>Where can I go?</a:t>
            </a:r>
          </a:p>
        </p:txBody>
      </p:sp>
      <p:sp>
        <p:nvSpPr>
          <p:cNvPr id="11" name="TextBox 10"/>
          <p:cNvSpPr txBox="1"/>
          <p:nvPr/>
        </p:nvSpPr>
        <p:spPr>
          <a:xfrm>
            <a:off x="723900" y="4076699"/>
            <a:ext cx="2971800" cy="707898"/>
          </a:xfrm>
          <a:prstGeom prst="rect">
            <a:avLst/>
          </a:prstGeom>
          <a:noFill/>
        </p:spPr>
        <p:txBody>
          <a:bodyPr wrap="none" lIns="0" rIns="0" tIns="0" bIns="0">
            <a:spAutoFit/>
          </a:bodyPr>
          <a:lstStyle/>
          <a:p>
            <a:pPr>
              <a:spcAft>
                <a:spcPts val="485"/>
              </a:spcAft>
              <a:defRPr sz="1620" b="0">
                <a:solidFill>
                  <a:srgbClr val="ABC1CA"/>
                </a:solidFill>
                <a:latin typeface="DejaVu Sans"/>
              </a:defRPr>
            </a:pPr>
            <a:r>
              <a:t>Source-backed pickup</a:t>
            </a:r>
          </a:p>
          <a:p>
            <a:pPr>
              <a:spcAft>
                <a:spcPts val="485"/>
              </a:spcAft>
              <a:defRPr sz="1620" b="0">
                <a:solidFill>
                  <a:srgbClr val="ABC1CA"/>
                </a:solidFill>
                <a:latin typeface="DejaVu Sans"/>
              </a:defRPr>
            </a:pPr>
            <a:r>
              <a:t>locations.</a:t>
            </a:r>
          </a:p>
        </p:txBody>
      </p:sp>
      <p:sp>
        <p:nvSpPr>
          <p:cNvPr id="12" name="Rounded Rectangle 11"/>
          <p:cNvSpPr/>
          <p:nvPr/>
        </p:nvSpPr>
        <p:spPr>
          <a:xfrm>
            <a:off x="4305300" y="2171700"/>
            <a:ext cx="3581400" cy="2895600"/>
          </a:xfrm>
          <a:prstGeom prst="roundRect">
            <a:avLst/>
          </a:prstGeom>
          <a:solidFill>
            <a:srgbClr val="142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3900" y="2438400"/>
            <a:ext cx="3048000" cy="563880"/>
          </a:xfrm>
          <a:prstGeom prst="rect">
            <a:avLst/>
          </a:prstGeom>
          <a:noFill/>
        </p:spPr>
        <p:txBody>
          <a:bodyPr wrap="none" lIns="0" rIns="0" tIns="0" bIns="0">
            <a:spAutoFit/>
          </a:bodyPr>
          <a:lstStyle/>
          <a:p>
            <a:pPr>
              <a:spcAft>
                <a:spcPts val="719"/>
              </a:spcAft>
              <a:defRPr sz="2400" b="1">
                <a:solidFill>
                  <a:srgbClr val="56E3CF"/>
                </a:solidFill>
                <a:latin typeface="DejaVu Sans"/>
              </a:defRPr>
            </a:pPr>
            <a:r>
              <a:t>02</a:t>
            </a:r>
          </a:p>
        </p:txBody>
      </p:sp>
      <p:sp>
        <p:nvSpPr>
          <p:cNvPr id="14" name="TextBox 13"/>
          <p:cNvSpPr txBox="1"/>
          <p:nvPr/>
        </p:nvSpPr>
        <p:spPr>
          <a:xfrm>
            <a:off x="4533900" y="3048000"/>
            <a:ext cx="3048000" cy="893064"/>
          </a:xfrm>
          <a:prstGeom prst="rect">
            <a:avLst/>
          </a:prstGeom>
          <a:noFill/>
        </p:spPr>
        <p:txBody>
          <a:bodyPr wrap="none" lIns="0" rIns="0" tIns="0" bIns="0">
            <a:spAutoFit/>
          </a:bodyPr>
          <a:lstStyle/>
          <a:p>
            <a:pPr>
              <a:spcAft>
                <a:spcPts val="648"/>
              </a:spcAft>
              <a:defRPr sz="2160" b="1">
                <a:solidFill>
                  <a:srgbClr val="F1F6F7"/>
                </a:solidFill>
                <a:latin typeface="DejaVu Sans"/>
              </a:defRPr>
            </a:pPr>
            <a:r>
              <a:t>Will it fit my</a:t>
            </a:r>
          </a:p>
          <a:p>
            <a:pPr>
              <a:spcAft>
                <a:spcPts val="648"/>
              </a:spcAft>
              <a:defRPr sz="2160" b="1">
                <a:solidFill>
                  <a:srgbClr val="F1F6F7"/>
                </a:solidFill>
                <a:latin typeface="DejaVu Sans"/>
              </a:defRPr>
            </a:pPr>
            <a:r>
              <a:t>needs?</a:t>
            </a:r>
          </a:p>
        </p:txBody>
      </p:sp>
      <p:sp>
        <p:nvSpPr>
          <p:cNvPr id="15" name="TextBox 14"/>
          <p:cNvSpPr txBox="1"/>
          <p:nvPr/>
        </p:nvSpPr>
        <p:spPr>
          <a:xfrm>
            <a:off x="4533900" y="4076699"/>
            <a:ext cx="2971800" cy="707898"/>
          </a:xfrm>
          <a:prstGeom prst="rect">
            <a:avLst/>
          </a:prstGeom>
          <a:noFill/>
        </p:spPr>
        <p:txBody>
          <a:bodyPr wrap="none" lIns="0" rIns="0" tIns="0" bIns="0">
            <a:spAutoFit/>
          </a:bodyPr>
          <a:lstStyle/>
          <a:p>
            <a:pPr>
              <a:spcAft>
                <a:spcPts val="485"/>
              </a:spcAft>
              <a:defRPr sz="1620" b="0">
                <a:solidFill>
                  <a:srgbClr val="ABC1CA"/>
                </a:solidFill>
                <a:latin typeface="DejaVu Sans"/>
              </a:defRPr>
            </a:pPr>
            <a:r>
              <a:t>Pickup times and known</a:t>
            </a:r>
          </a:p>
          <a:p>
            <a:pPr>
              <a:spcAft>
                <a:spcPts val="485"/>
              </a:spcAft>
              <a:defRPr sz="1620" b="0">
                <a:solidFill>
                  <a:srgbClr val="ABC1CA"/>
                </a:solidFill>
                <a:latin typeface="DejaVu Sans"/>
              </a:defRPr>
            </a:pPr>
            <a:r>
              <a:t>requirements.</a:t>
            </a:r>
          </a:p>
        </p:txBody>
      </p:sp>
      <p:sp>
        <p:nvSpPr>
          <p:cNvPr id="16" name="Rounded Rectangle 15"/>
          <p:cNvSpPr/>
          <p:nvPr/>
        </p:nvSpPr>
        <p:spPr>
          <a:xfrm>
            <a:off x="8115300" y="2171700"/>
            <a:ext cx="3581400" cy="2895600"/>
          </a:xfrm>
          <a:prstGeom prst="roundRect">
            <a:avLst/>
          </a:prstGeom>
          <a:solidFill>
            <a:srgbClr val="142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43900" y="2438400"/>
            <a:ext cx="3048000" cy="563880"/>
          </a:xfrm>
          <a:prstGeom prst="rect">
            <a:avLst/>
          </a:prstGeom>
          <a:noFill/>
        </p:spPr>
        <p:txBody>
          <a:bodyPr wrap="none" lIns="0" rIns="0" tIns="0" bIns="0">
            <a:spAutoFit/>
          </a:bodyPr>
          <a:lstStyle/>
          <a:p>
            <a:pPr>
              <a:spcAft>
                <a:spcPts val="719"/>
              </a:spcAft>
              <a:defRPr sz="2400" b="1">
                <a:solidFill>
                  <a:srgbClr val="56E3CF"/>
                </a:solidFill>
                <a:latin typeface="DejaVu Sans"/>
              </a:defRPr>
            </a:pPr>
            <a:r>
              <a:t>03</a:t>
            </a:r>
          </a:p>
        </p:txBody>
      </p:sp>
      <p:sp>
        <p:nvSpPr>
          <p:cNvPr id="18" name="TextBox 17"/>
          <p:cNvSpPr txBox="1"/>
          <p:nvPr/>
        </p:nvSpPr>
        <p:spPr>
          <a:xfrm>
            <a:off x="8343900" y="3048000"/>
            <a:ext cx="3048000" cy="522732"/>
          </a:xfrm>
          <a:prstGeom prst="rect">
            <a:avLst/>
          </a:prstGeom>
          <a:noFill/>
        </p:spPr>
        <p:txBody>
          <a:bodyPr wrap="none" lIns="0" rIns="0" tIns="0" bIns="0">
            <a:spAutoFit/>
          </a:bodyPr>
          <a:lstStyle/>
          <a:p>
            <a:pPr>
              <a:spcAft>
                <a:spcPts val="648"/>
              </a:spcAft>
              <a:defRPr sz="2160" b="1">
                <a:solidFill>
                  <a:srgbClr val="F1F6F7"/>
                </a:solidFill>
                <a:latin typeface="DejaVu Sans"/>
              </a:defRPr>
            </a:pPr>
            <a:r>
              <a:t>How do I get there?</a:t>
            </a:r>
          </a:p>
        </p:txBody>
      </p:sp>
      <p:sp>
        <p:nvSpPr>
          <p:cNvPr id="19" name="TextBox 18"/>
          <p:cNvSpPr txBox="1"/>
          <p:nvPr/>
        </p:nvSpPr>
        <p:spPr>
          <a:xfrm>
            <a:off x="8343900" y="4076699"/>
            <a:ext cx="2971800" cy="707898"/>
          </a:xfrm>
          <a:prstGeom prst="rect">
            <a:avLst/>
          </a:prstGeom>
          <a:noFill/>
        </p:spPr>
        <p:txBody>
          <a:bodyPr wrap="none" lIns="0" rIns="0" tIns="0" bIns="0">
            <a:spAutoFit/>
          </a:bodyPr>
          <a:lstStyle/>
          <a:p>
            <a:pPr>
              <a:spcAft>
                <a:spcPts val="485"/>
              </a:spcAft>
              <a:defRPr sz="1620" b="0">
                <a:solidFill>
                  <a:srgbClr val="ABC1CA"/>
                </a:solidFill>
                <a:latin typeface="DejaVu Sans"/>
              </a:defRPr>
            </a:pPr>
            <a:r>
              <a:t>Location-aware directions</a:t>
            </a:r>
          </a:p>
          <a:p>
            <a:pPr>
              <a:spcAft>
                <a:spcPts val="485"/>
              </a:spcAft>
              <a:defRPr sz="1620" b="0">
                <a:solidFill>
                  <a:srgbClr val="ABC1CA"/>
                </a:solidFill>
                <a:latin typeface="DejaVu Sans"/>
              </a:defRPr>
            </a:pPr>
            <a:r>
              <a:t>and contact details.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820"/>
        </a:solidFill>
        <a:effectLst/>
      </p:bgPr>
    </p:bg>
    <p:spTree>
      <p:nvGrpSpPr>
        <p:cNvPr id="1" name=""/>
        <p:cNvGrpSpPr/>
        <p:nvPr/>
      </p:nvGrpSpPr>
      <p:grpSpPr/>
      <p:sp>
        <p:nvSpPr>
          <p:cNvPr id="2" name="TextBox 1"/>
          <p:cNvSpPr txBox="1"/>
          <p:nvPr/>
        </p:nvSpPr>
        <p:spPr>
          <a:xfrm>
            <a:off x="495299" y="266700"/>
            <a:ext cx="2667000" cy="409575"/>
          </a:xfrm>
          <a:prstGeom prst="rect">
            <a:avLst/>
          </a:prstGeom>
          <a:noFill/>
        </p:spPr>
        <p:txBody>
          <a:bodyPr wrap="none" lIns="0" rIns="0" tIns="0" bIns="0">
            <a:spAutoFit/>
          </a:bodyPr>
          <a:lstStyle/>
          <a:p>
            <a:pPr>
              <a:spcAft>
                <a:spcPts val="450"/>
              </a:spcAft>
              <a:defRPr sz="1500" b="1">
                <a:solidFill>
                  <a:srgbClr val="56E3CF"/>
                </a:solidFill>
                <a:latin typeface="DejaVu Sans"/>
              </a:defRPr>
            </a:pPr>
            <a:r>
              <a:t>ReachAI</a:t>
            </a:r>
          </a:p>
        </p:txBody>
      </p:sp>
      <p:sp>
        <p:nvSpPr>
          <p:cNvPr id="3" name="TextBox 2"/>
          <p:cNvSpPr txBox="1"/>
          <p:nvPr/>
        </p:nvSpPr>
        <p:spPr>
          <a:xfrm>
            <a:off x="6629400" y="297180"/>
            <a:ext cx="5029200" cy="327279"/>
          </a:xfrm>
          <a:prstGeom prst="rect">
            <a:avLst/>
          </a:prstGeom>
          <a:noFill/>
        </p:spPr>
        <p:txBody>
          <a:bodyPr wrap="none" lIns="0" rIns="0" tIns="0" bIns="0">
            <a:spAutoFit/>
          </a:bodyPr>
          <a:lstStyle/>
          <a:p>
            <a:pPr>
              <a:spcAft>
                <a:spcPts val="306"/>
              </a:spcAft>
              <a:defRPr sz="1019" b="0">
                <a:solidFill>
                  <a:srgbClr val="ABC1CA"/>
                </a:solidFill>
                <a:latin typeface="DejaVu Sans"/>
              </a:defRPr>
            </a:pPr>
            <a:r>
              <a:t>DEMO 01 / SEARCH</a:t>
            </a:r>
          </a:p>
        </p:txBody>
      </p:sp>
      <p:sp>
        <p:nvSpPr>
          <p:cNvPr id="4" name="Rectangle 3"/>
          <p:cNvSpPr/>
          <p:nvPr/>
        </p:nvSpPr>
        <p:spPr>
          <a:xfrm>
            <a:off x="495299" y="693420"/>
            <a:ext cx="11201400" cy="15240"/>
          </a:xfrm>
          <a:prstGeom prst="rect">
            <a:avLst/>
          </a:prstGeom>
          <a:solidFill>
            <a:srgbClr val="2C46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5299" y="1028700"/>
            <a:ext cx="10934700" cy="707898"/>
          </a:xfrm>
          <a:prstGeom prst="rect">
            <a:avLst/>
          </a:prstGeom>
          <a:noFill/>
        </p:spPr>
        <p:txBody>
          <a:bodyPr wrap="none" lIns="0" rIns="0" tIns="0" bIns="0">
            <a:spAutoFit/>
          </a:bodyPr>
          <a:lstStyle/>
          <a:p>
            <a:pPr>
              <a:spcAft>
                <a:spcPts val="971"/>
              </a:spcAft>
              <a:defRPr sz="3240" b="1">
                <a:solidFill>
                  <a:srgbClr val="F1F6F7"/>
                </a:solidFill>
                <a:latin typeface="DejaVu Sans"/>
              </a:defRPr>
            </a:pPr>
            <a:r>
              <a:t>Ask in everyday language.</a:t>
            </a:r>
          </a:p>
        </p:txBody>
      </p:sp>
      <p:sp>
        <p:nvSpPr>
          <p:cNvPr id="6" name="TextBox 5"/>
          <p:cNvSpPr txBox="1"/>
          <p:nvPr/>
        </p:nvSpPr>
        <p:spPr>
          <a:xfrm>
            <a:off x="495299" y="6522720"/>
            <a:ext cx="7620000" cy="306705"/>
          </a:xfrm>
          <a:prstGeom prst="rect">
            <a:avLst/>
          </a:prstGeom>
          <a:noFill/>
        </p:spPr>
        <p:txBody>
          <a:bodyPr wrap="none" lIns="0" rIns="0" tIns="0" bIns="0">
            <a:spAutoFit/>
          </a:bodyPr>
          <a:lstStyle/>
          <a:p>
            <a:pPr>
              <a:spcAft>
                <a:spcPts val="270"/>
              </a:spcAft>
              <a:defRPr sz="900" b="0">
                <a:solidFill>
                  <a:srgbClr val="ABC1CA"/>
                </a:solidFill>
                <a:latin typeface="DejaVu Sans"/>
              </a:defRPr>
            </a:pPr>
            <a:r>
              <a:t>CONGRESSIONAL APP CHALLENGE</a:t>
            </a:r>
          </a:p>
        </p:txBody>
      </p:sp>
      <p:sp>
        <p:nvSpPr>
          <p:cNvPr id="7" name="TextBox 6"/>
          <p:cNvSpPr txBox="1"/>
          <p:nvPr/>
        </p:nvSpPr>
        <p:spPr>
          <a:xfrm>
            <a:off x="11125200" y="6477000"/>
            <a:ext cx="495299" cy="378714"/>
          </a:xfrm>
          <a:prstGeom prst="rect">
            <a:avLst/>
          </a:prstGeom>
          <a:noFill/>
        </p:spPr>
        <p:txBody>
          <a:bodyPr wrap="none" lIns="0" rIns="0" tIns="0" bIns="0">
            <a:spAutoFit/>
          </a:bodyPr>
          <a:lstStyle/>
          <a:p>
            <a:pPr>
              <a:spcAft>
                <a:spcPts val="396"/>
              </a:spcAft>
              <a:defRPr sz="1320" b="0">
                <a:solidFill>
                  <a:srgbClr val="56E3CF"/>
                </a:solidFill>
                <a:latin typeface="DejaVu Sans"/>
              </a:defRPr>
            </a:pPr>
            <a:r>
              <a:t>04</a:t>
            </a:r>
          </a:p>
        </p:txBody>
      </p:sp>
      <p:sp>
        <p:nvSpPr>
          <p:cNvPr id="8" name="TextBox 7"/>
          <p:cNvSpPr txBox="1"/>
          <p:nvPr/>
        </p:nvSpPr>
        <p:spPr>
          <a:xfrm>
            <a:off x="533400" y="2209800"/>
            <a:ext cx="6858000" cy="1283970"/>
          </a:xfrm>
          <a:prstGeom prst="rect">
            <a:avLst/>
          </a:prstGeom>
          <a:noFill/>
        </p:spPr>
        <p:txBody>
          <a:bodyPr wrap="none" lIns="0" rIns="0" tIns="0" bIns="0">
            <a:spAutoFit/>
          </a:bodyPr>
          <a:lstStyle/>
          <a:p>
            <a:pPr>
              <a:spcAft>
                <a:spcPts val="990"/>
              </a:spcAft>
              <a:defRPr sz="3300" b="1">
                <a:solidFill>
                  <a:srgbClr val="56E3CF"/>
                </a:solidFill>
                <a:latin typeface="DejaVu Sans"/>
              </a:defRPr>
            </a:pPr>
            <a:r>
              <a:t>“I need food in Bryan</a:t>
            </a:r>
          </a:p>
          <a:p>
            <a:pPr>
              <a:spcAft>
                <a:spcPts val="990"/>
              </a:spcAft>
              <a:defRPr sz="3300" b="1">
                <a:solidFill>
                  <a:srgbClr val="56E3CF"/>
                </a:solidFill>
                <a:latin typeface="DejaVu Sans"/>
              </a:defRPr>
            </a:pPr>
            <a:r>
              <a:t>and I’m walking.”</a:t>
            </a:r>
          </a:p>
        </p:txBody>
      </p:sp>
      <p:sp>
        <p:nvSpPr>
          <p:cNvPr id="9" name="TextBox 8"/>
          <p:cNvSpPr txBox="1"/>
          <p:nvPr/>
        </p:nvSpPr>
        <p:spPr>
          <a:xfrm>
            <a:off x="571500" y="3886200"/>
            <a:ext cx="7010400" cy="1109091"/>
          </a:xfrm>
          <a:prstGeom prst="rect">
            <a:avLst/>
          </a:prstGeom>
          <a:noFill/>
        </p:spPr>
        <p:txBody>
          <a:bodyPr wrap="none" lIns="0" rIns="0" tIns="0" bIns="0">
            <a:spAutoFit/>
          </a:bodyPr>
          <a:lstStyle/>
          <a:p>
            <a:pPr>
              <a:spcAft>
                <a:spcPts val="558"/>
              </a:spcAft>
              <a:defRPr sz="1859" b="0">
                <a:solidFill>
                  <a:srgbClr val="ABC1CA"/>
                </a:solidFill>
                <a:latin typeface="DejaVu Sans"/>
              </a:defRPr>
            </a:pPr>
            <a:r>
              <a:t>No account needed to search.</a:t>
            </a:r>
          </a:p>
          <a:p>
            <a:pPr>
              <a:spcAft>
                <a:spcPts val="558"/>
              </a:spcAft>
              <a:defRPr sz="1859" b="0">
                <a:solidFill>
                  <a:srgbClr val="ABC1CA"/>
                </a:solidFill>
                <a:latin typeface="DejaVu Sans"/>
              </a:defRPr>
            </a:pPr>
            <a:r>
              <a:t>Use a location or enter an address.</a:t>
            </a:r>
          </a:p>
          <a:p>
            <a:pPr>
              <a:spcAft>
                <a:spcPts val="558"/>
              </a:spcAft>
              <a:defRPr sz="1859" b="0">
                <a:solidFill>
                  <a:srgbClr val="ABC1CA"/>
                </a:solidFill>
                <a:latin typeface="DejaVu Sans"/>
              </a:defRPr>
            </a:pPr>
            <a:r>
              <a:t>Keep browsing if AI is unavailable.</a:t>
            </a:r>
          </a:p>
        </p:txBody>
      </p:sp>
      <p:sp>
        <p:nvSpPr>
          <p:cNvPr id="10" name="Rounded Rectangle 9"/>
          <p:cNvSpPr/>
          <p:nvPr/>
        </p:nvSpPr>
        <p:spPr>
          <a:xfrm>
            <a:off x="8656320" y="1524000"/>
            <a:ext cx="2263140" cy="4724400"/>
          </a:xfrm>
          <a:prstGeom prst="roundRect">
            <a:avLst/>
          </a:prstGeom>
          <a:solidFill>
            <a:srgbClr val="2C46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home.png"/>
          <p:cNvPicPr>
            <a:picLocks noChangeAspect="1"/>
          </p:cNvPicPr>
          <p:nvPr/>
        </p:nvPicPr>
        <p:blipFill>
          <a:blip r:embed="rId2"/>
          <a:stretch>
            <a:fillRect/>
          </a:stretch>
        </p:blipFill>
        <p:spPr>
          <a:xfrm>
            <a:off x="8732520" y="1600200"/>
            <a:ext cx="2110740" cy="4572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820"/>
        </a:solidFill>
        <a:effectLst/>
      </p:bgPr>
    </p:bg>
    <p:spTree>
      <p:nvGrpSpPr>
        <p:cNvPr id="1" name=""/>
        <p:cNvGrpSpPr/>
        <p:nvPr/>
      </p:nvGrpSpPr>
      <p:grpSpPr/>
      <p:sp>
        <p:nvSpPr>
          <p:cNvPr id="2" name="TextBox 1"/>
          <p:cNvSpPr txBox="1"/>
          <p:nvPr/>
        </p:nvSpPr>
        <p:spPr>
          <a:xfrm>
            <a:off x="495299" y="266700"/>
            <a:ext cx="2667000" cy="409575"/>
          </a:xfrm>
          <a:prstGeom prst="rect">
            <a:avLst/>
          </a:prstGeom>
          <a:noFill/>
        </p:spPr>
        <p:txBody>
          <a:bodyPr wrap="none" lIns="0" rIns="0" tIns="0" bIns="0">
            <a:spAutoFit/>
          </a:bodyPr>
          <a:lstStyle/>
          <a:p>
            <a:pPr>
              <a:spcAft>
                <a:spcPts val="450"/>
              </a:spcAft>
              <a:defRPr sz="1500" b="1">
                <a:solidFill>
                  <a:srgbClr val="56E3CF"/>
                </a:solidFill>
                <a:latin typeface="DejaVu Sans"/>
              </a:defRPr>
            </a:pPr>
            <a:r>
              <a:t>ReachAI</a:t>
            </a:r>
          </a:p>
        </p:txBody>
      </p:sp>
      <p:sp>
        <p:nvSpPr>
          <p:cNvPr id="3" name="TextBox 2"/>
          <p:cNvSpPr txBox="1"/>
          <p:nvPr/>
        </p:nvSpPr>
        <p:spPr>
          <a:xfrm>
            <a:off x="6629400" y="297180"/>
            <a:ext cx="5029200" cy="327279"/>
          </a:xfrm>
          <a:prstGeom prst="rect">
            <a:avLst/>
          </a:prstGeom>
          <a:noFill/>
        </p:spPr>
        <p:txBody>
          <a:bodyPr wrap="none" lIns="0" rIns="0" tIns="0" bIns="0">
            <a:spAutoFit/>
          </a:bodyPr>
          <a:lstStyle/>
          <a:p>
            <a:pPr>
              <a:spcAft>
                <a:spcPts val="306"/>
              </a:spcAft>
              <a:defRPr sz="1019" b="0">
                <a:solidFill>
                  <a:srgbClr val="ABC1CA"/>
                </a:solidFill>
                <a:latin typeface="DejaVu Sans"/>
              </a:defRPr>
            </a:pPr>
            <a:r>
              <a:t>DEMO 02 / RESULTS</a:t>
            </a:r>
          </a:p>
        </p:txBody>
      </p:sp>
      <p:sp>
        <p:nvSpPr>
          <p:cNvPr id="4" name="Rectangle 3"/>
          <p:cNvSpPr/>
          <p:nvPr/>
        </p:nvSpPr>
        <p:spPr>
          <a:xfrm>
            <a:off x="495299" y="693420"/>
            <a:ext cx="11201400" cy="15240"/>
          </a:xfrm>
          <a:prstGeom prst="rect">
            <a:avLst/>
          </a:prstGeom>
          <a:solidFill>
            <a:srgbClr val="2C46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5299" y="1028700"/>
            <a:ext cx="10934700" cy="707898"/>
          </a:xfrm>
          <a:prstGeom prst="rect">
            <a:avLst/>
          </a:prstGeom>
          <a:noFill/>
        </p:spPr>
        <p:txBody>
          <a:bodyPr wrap="none" lIns="0" rIns="0" tIns="0" bIns="0">
            <a:spAutoFit/>
          </a:bodyPr>
          <a:lstStyle/>
          <a:p>
            <a:pPr>
              <a:spcAft>
                <a:spcPts val="971"/>
              </a:spcAft>
              <a:defRPr sz="3240" b="1">
                <a:solidFill>
                  <a:srgbClr val="F1F6F7"/>
                </a:solidFill>
                <a:latin typeface="DejaVu Sans"/>
              </a:defRPr>
            </a:pPr>
            <a:r>
              <a:t>Useful details, not just a pin.</a:t>
            </a:r>
          </a:p>
        </p:txBody>
      </p:sp>
      <p:sp>
        <p:nvSpPr>
          <p:cNvPr id="6" name="TextBox 5"/>
          <p:cNvSpPr txBox="1"/>
          <p:nvPr/>
        </p:nvSpPr>
        <p:spPr>
          <a:xfrm>
            <a:off x="495299" y="6522720"/>
            <a:ext cx="7620000" cy="306705"/>
          </a:xfrm>
          <a:prstGeom prst="rect">
            <a:avLst/>
          </a:prstGeom>
          <a:noFill/>
        </p:spPr>
        <p:txBody>
          <a:bodyPr wrap="none" lIns="0" rIns="0" tIns="0" bIns="0">
            <a:spAutoFit/>
          </a:bodyPr>
          <a:lstStyle/>
          <a:p>
            <a:pPr>
              <a:spcAft>
                <a:spcPts val="270"/>
              </a:spcAft>
              <a:defRPr sz="900" b="0">
                <a:solidFill>
                  <a:srgbClr val="ABC1CA"/>
                </a:solidFill>
                <a:latin typeface="DejaVu Sans"/>
              </a:defRPr>
            </a:pPr>
            <a:r>
              <a:t>CONGRESSIONAL APP CHALLENGE</a:t>
            </a:r>
          </a:p>
        </p:txBody>
      </p:sp>
      <p:sp>
        <p:nvSpPr>
          <p:cNvPr id="7" name="TextBox 6"/>
          <p:cNvSpPr txBox="1"/>
          <p:nvPr/>
        </p:nvSpPr>
        <p:spPr>
          <a:xfrm>
            <a:off x="11125200" y="6477000"/>
            <a:ext cx="495299" cy="378714"/>
          </a:xfrm>
          <a:prstGeom prst="rect">
            <a:avLst/>
          </a:prstGeom>
          <a:noFill/>
        </p:spPr>
        <p:txBody>
          <a:bodyPr wrap="none" lIns="0" rIns="0" tIns="0" bIns="0">
            <a:spAutoFit/>
          </a:bodyPr>
          <a:lstStyle/>
          <a:p>
            <a:pPr>
              <a:spcAft>
                <a:spcPts val="396"/>
              </a:spcAft>
              <a:defRPr sz="1320" b="0">
                <a:solidFill>
                  <a:srgbClr val="56E3CF"/>
                </a:solidFill>
                <a:latin typeface="DejaVu Sans"/>
              </a:defRPr>
            </a:pPr>
            <a:r>
              <a:t>05</a:t>
            </a:r>
          </a:p>
        </p:txBody>
      </p:sp>
      <p:sp>
        <p:nvSpPr>
          <p:cNvPr id="8" name="TextBox 7"/>
          <p:cNvSpPr txBox="1"/>
          <p:nvPr/>
        </p:nvSpPr>
        <p:spPr>
          <a:xfrm>
            <a:off x="533400" y="1905000"/>
            <a:ext cx="6096000" cy="1489710"/>
          </a:xfrm>
          <a:prstGeom prst="rect">
            <a:avLst/>
          </a:prstGeom>
          <a:noFill/>
        </p:spPr>
        <p:txBody>
          <a:bodyPr wrap="none" lIns="0" rIns="0" tIns="0" bIns="0">
            <a:spAutoFit/>
          </a:bodyPr>
          <a:lstStyle/>
          <a:p>
            <a:pPr>
              <a:spcAft>
                <a:spcPts val="2340"/>
              </a:spcAft>
              <a:defRPr sz="7800" b="1">
                <a:solidFill>
                  <a:srgbClr val="56E3CF"/>
                </a:solidFill>
                <a:latin typeface="DejaVu Sans"/>
              </a:defRPr>
            </a:pPr>
            <a:r>
              <a:t>66</a:t>
            </a:r>
          </a:p>
        </p:txBody>
      </p:sp>
      <p:sp>
        <p:nvSpPr>
          <p:cNvPr id="9" name="TextBox 8"/>
          <p:cNvSpPr txBox="1"/>
          <p:nvPr/>
        </p:nvSpPr>
        <p:spPr>
          <a:xfrm>
            <a:off x="571500" y="3124200"/>
            <a:ext cx="6858000" cy="522732"/>
          </a:xfrm>
          <a:prstGeom prst="rect">
            <a:avLst/>
          </a:prstGeom>
          <a:noFill/>
        </p:spPr>
        <p:txBody>
          <a:bodyPr wrap="none" lIns="0" rIns="0" tIns="0" bIns="0">
            <a:spAutoFit/>
          </a:bodyPr>
          <a:lstStyle/>
          <a:p>
            <a:pPr>
              <a:spcAft>
                <a:spcPts val="648"/>
              </a:spcAft>
              <a:defRPr sz="2160" b="1">
                <a:solidFill>
                  <a:srgbClr val="F1F6F7"/>
                </a:solidFill>
                <a:latin typeface="DejaVu Sans"/>
              </a:defRPr>
            </a:pPr>
            <a:r>
              <a:t>maintained food-assistance sites</a:t>
            </a:r>
          </a:p>
        </p:txBody>
      </p:sp>
      <p:sp>
        <p:nvSpPr>
          <p:cNvPr id="10" name="TextBox 9"/>
          <p:cNvSpPr txBox="1"/>
          <p:nvPr/>
        </p:nvSpPr>
        <p:spPr>
          <a:xfrm>
            <a:off x="571500" y="3962399"/>
            <a:ext cx="6705600" cy="1047368"/>
          </a:xfrm>
          <a:prstGeom prst="rect">
            <a:avLst/>
          </a:prstGeom>
          <a:noFill/>
        </p:spPr>
        <p:txBody>
          <a:bodyPr wrap="none" lIns="0" rIns="0" tIns="0" bIns="0">
            <a:spAutoFit/>
          </a:bodyPr>
          <a:lstStyle/>
          <a:p>
            <a:pPr>
              <a:spcAft>
                <a:spcPts val="522"/>
              </a:spcAft>
              <a:defRPr sz="1739" b="0">
                <a:solidFill>
                  <a:srgbClr val="ABC1CA"/>
                </a:solidFill>
                <a:latin typeface="DejaVu Sans"/>
              </a:defRPr>
            </a:pPr>
            <a:r>
              <a:t>Pickup address and published schedule</a:t>
            </a:r>
          </a:p>
          <a:p>
            <a:pPr>
              <a:spcAft>
                <a:spcPts val="522"/>
              </a:spcAft>
              <a:defRPr sz="1739" b="0">
                <a:solidFill>
                  <a:srgbClr val="ABC1CA"/>
                </a:solidFill>
                <a:latin typeface="DejaVu Sans"/>
              </a:defRPr>
            </a:pPr>
            <a:r>
              <a:t>Known requirements and contact details</a:t>
            </a:r>
          </a:p>
          <a:p>
            <a:pPr>
              <a:spcAft>
                <a:spcPts val="522"/>
              </a:spcAft>
              <a:defRPr sz="1739" b="0">
                <a:solidFill>
                  <a:srgbClr val="ABC1CA"/>
                </a:solidFill>
                <a:latin typeface="DejaVu Sans"/>
              </a:defRPr>
            </a:pPr>
            <a:r>
              <a:t>Source information and uncertainty</a:t>
            </a:r>
          </a:p>
        </p:txBody>
      </p:sp>
      <p:sp>
        <p:nvSpPr>
          <p:cNvPr id="11" name="TextBox 10"/>
          <p:cNvSpPr txBox="1"/>
          <p:nvPr/>
        </p:nvSpPr>
        <p:spPr>
          <a:xfrm>
            <a:off x="571500" y="5676900"/>
            <a:ext cx="6705600" cy="378714"/>
          </a:xfrm>
          <a:prstGeom prst="rect">
            <a:avLst/>
          </a:prstGeom>
          <a:noFill/>
        </p:spPr>
        <p:txBody>
          <a:bodyPr wrap="none" lIns="0" rIns="0" tIns="0" bIns="0">
            <a:spAutoFit/>
          </a:bodyPr>
          <a:lstStyle/>
          <a:p>
            <a:pPr>
              <a:spcAft>
                <a:spcPts val="396"/>
              </a:spcAft>
              <a:defRPr sz="1320" b="0">
                <a:solidFill>
                  <a:srgbClr val="ABC1CA"/>
                </a:solidFill>
                <a:latin typeface="DejaVu Sans"/>
              </a:defRPr>
            </a:pPr>
            <a:r>
              <a:t>Includes restricted programs. Coverage is not exhaustive.</a:t>
            </a:r>
          </a:p>
        </p:txBody>
      </p:sp>
      <p:sp>
        <p:nvSpPr>
          <p:cNvPr id="12" name="Rounded Rectangle 11"/>
          <p:cNvSpPr/>
          <p:nvPr/>
        </p:nvSpPr>
        <p:spPr>
          <a:xfrm>
            <a:off x="8663940" y="1485900"/>
            <a:ext cx="2255520" cy="4800600"/>
          </a:xfrm>
          <a:prstGeom prst="roundRect">
            <a:avLst/>
          </a:prstGeom>
          <a:solidFill>
            <a:srgbClr val="2C46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result.png"/>
          <p:cNvPicPr>
            <a:picLocks noChangeAspect="1"/>
          </p:cNvPicPr>
          <p:nvPr/>
        </p:nvPicPr>
        <p:blipFill>
          <a:blip r:embed="rId2"/>
          <a:stretch>
            <a:fillRect/>
          </a:stretch>
        </p:blipFill>
        <p:spPr>
          <a:xfrm>
            <a:off x="8740140" y="1562100"/>
            <a:ext cx="2103120" cy="4648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820"/>
        </a:solidFill>
        <a:effectLst/>
      </p:bgPr>
    </p:bg>
    <p:spTree>
      <p:nvGrpSpPr>
        <p:cNvPr id="1" name=""/>
        <p:cNvGrpSpPr/>
        <p:nvPr/>
      </p:nvGrpSpPr>
      <p:grpSpPr/>
      <p:sp>
        <p:nvSpPr>
          <p:cNvPr id="2" name="TextBox 1"/>
          <p:cNvSpPr txBox="1"/>
          <p:nvPr/>
        </p:nvSpPr>
        <p:spPr>
          <a:xfrm>
            <a:off x="495299" y="266700"/>
            <a:ext cx="2667000" cy="409575"/>
          </a:xfrm>
          <a:prstGeom prst="rect">
            <a:avLst/>
          </a:prstGeom>
          <a:noFill/>
        </p:spPr>
        <p:txBody>
          <a:bodyPr wrap="none" lIns="0" rIns="0" tIns="0" bIns="0">
            <a:spAutoFit/>
          </a:bodyPr>
          <a:lstStyle/>
          <a:p>
            <a:pPr>
              <a:spcAft>
                <a:spcPts val="450"/>
              </a:spcAft>
              <a:defRPr sz="1500" b="1">
                <a:solidFill>
                  <a:srgbClr val="56E3CF"/>
                </a:solidFill>
                <a:latin typeface="DejaVu Sans"/>
              </a:defRPr>
            </a:pPr>
            <a:r>
              <a:t>ReachAI</a:t>
            </a:r>
          </a:p>
        </p:txBody>
      </p:sp>
      <p:sp>
        <p:nvSpPr>
          <p:cNvPr id="3" name="TextBox 2"/>
          <p:cNvSpPr txBox="1"/>
          <p:nvPr/>
        </p:nvSpPr>
        <p:spPr>
          <a:xfrm>
            <a:off x="6629400" y="297180"/>
            <a:ext cx="5029200" cy="327279"/>
          </a:xfrm>
          <a:prstGeom prst="rect">
            <a:avLst/>
          </a:prstGeom>
          <a:noFill/>
        </p:spPr>
        <p:txBody>
          <a:bodyPr wrap="none" lIns="0" rIns="0" tIns="0" bIns="0">
            <a:spAutoFit/>
          </a:bodyPr>
          <a:lstStyle/>
          <a:p>
            <a:pPr>
              <a:spcAft>
                <a:spcPts val="306"/>
              </a:spcAft>
              <a:defRPr sz="1019" b="0">
                <a:solidFill>
                  <a:srgbClr val="ABC1CA"/>
                </a:solidFill>
                <a:latin typeface="DejaVu Sans"/>
              </a:defRPr>
            </a:pPr>
            <a:r>
              <a:t>AI + RELIABILITY</a:t>
            </a:r>
          </a:p>
        </p:txBody>
      </p:sp>
      <p:sp>
        <p:nvSpPr>
          <p:cNvPr id="4" name="Rectangle 3"/>
          <p:cNvSpPr/>
          <p:nvPr/>
        </p:nvSpPr>
        <p:spPr>
          <a:xfrm>
            <a:off x="495299" y="693420"/>
            <a:ext cx="11201400" cy="15240"/>
          </a:xfrm>
          <a:prstGeom prst="rect">
            <a:avLst/>
          </a:prstGeom>
          <a:solidFill>
            <a:srgbClr val="2C46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5299" y="1028700"/>
            <a:ext cx="10934700" cy="707898"/>
          </a:xfrm>
          <a:prstGeom prst="rect">
            <a:avLst/>
          </a:prstGeom>
          <a:noFill/>
        </p:spPr>
        <p:txBody>
          <a:bodyPr wrap="none" lIns="0" rIns="0" tIns="0" bIns="0">
            <a:spAutoFit/>
          </a:bodyPr>
          <a:lstStyle/>
          <a:p>
            <a:pPr>
              <a:spcAft>
                <a:spcPts val="971"/>
              </a:spcAft>
              <a:defRPr sz="3240" b="1">
                <a:solidFill>
                  <a:srgbClr val="F1F6F7"/>
                </a:solidFill>
                <a:latin typeface="DejaVu Sans"/>
              </a:defRPr>
            </a:pPr>
            <a:r>
              <a:t>Help explain. Never invent.</a:t>
            </a:r>
          </a:p>
        </p:txBody>
      </p:sp>
      <p:sp>
        <p:nvSpPr>
          <p:cNvPr id="6" name="TextBox 5"/>
          <p:cNvSpPr txBox="1"/>
          <p:nvPr/>
        </p:nvSpPr>
        <p:spPr>
          <a:xfrm>
            <a:off x="495299" y="6522720"/>
            <a:ext cx="7620000" cy="306705"/>
          </a:xfrm>
          <a:prstGeom prst="rect">
            <a:avLst/>
          </a:prstGeom>
          <a:noFill/>
        </p:spPr>
        <p:txBody>
          <a:bodyPr wrap="none" lIns="0" rIns="0" tIns="0" bIns="0">
            <a:spAutoFit/>
          </a:bodyPr>
          <a:lstStyle/>
          <a:p>
            <a:pPr>
              <a:spcAft>
                <a:spcPts val="270"/>
              </a:spcAft>
              <a:defRPr sz="900" b="0">
                <a:solidFill>
                  <a:srgbClr val="ABC1CA"/>
                </a:solidFill>
                <a:latin typeface="DejaVu Sans"/>
              </a:defRPr>
            </a:pPr>
            <a:r>
              <a:t>CONGRESSIONAL APP CHALLENGE</a:t>
            </a:r>
          </a:p>
        </p:txBody>
      </p:sp>
      <p:sp>
        <p:nvSpPr>
          <p:cNvPr id="7" name="TextBox 6"/>
          <p:cNvSpPr txBox="1"/>
          <p:nvPr/>
        </p:nvSpPr>
        <p:spPr>
          <a:xfrm>
            <a:off x="11125200" y="6477000"/>
            <a:ext cx="495299" cy="378714"/>
          </a:xfrm>
          <a:prstGeom prst="rect">
            <a:avLst/>
          </a:prstGeom>
          <a:noFill/>
        </p:spPr>
        <p:txBody>
          <a:bodyPr wrap="none" lIns="0" rIns="0" tIns="0" bIns="0">
            <a:spAutoFit/>
          </a:bodyPr>
          <a:lstStyle/>
          <a:p>
            <a:pPr>
              <a:spcAft>
                <a:spcPts val="396"/>
              </a:spcAft>
              <a:defRPr sz="1320" b="0">
                <a:solidFill>
                  <a:srgbClr val="56E3CF"/>
                </a:solidFill>
                <a:latin typeface="DejaVu Sans"/>
              </a:defRPr>
            </a:pPr>
            <a:r>
              <a:t>06</a:t>
            </a:r>
          </a:p>
        </p:txBody>
      </p:sp>
      <p:sp>
        <p:nvSpPr>
          <p:cNvPr id="8" name="Rounded Rectangle 7"/>
          <p:cNvSpPr/>
          <p:nvPr/>
        </p:nvSpPr>
        <p:spPr>
          <a:xfrm>
            <a:off x="495299" y="2095499"/>
            <a:ext cx="3581400" cy="3162300"/>
          </a:xfrm>
          <a:prstGeom prst="roundRect">
            <a:avLst/>
          </a:prstGeom>
          <a:solidFill>
            <a:srgbClr val="142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3900" y="2438400"/>
            <a:ext cx="3086100" cy="913638"/>
          </a:xfrm>
          <a:prstGeom prst="rect">
            <a:avLst/>
          </a:prstGeom>
          <a:noFill/>
        </p:spPr>
        <p:txBody>
          <a:bodyPr wrap="none" lIns="0" rIns="0" tIns="0" bIns="0">
            <a:spAutoFit/>
          </a:bodyPr>
          <a:lstStyle/>
          <a:p>
            <a:pPr>
              <a:spcAft>
                <a:spcPts val="666"/>
              </a:spcAft>
              <a:defRPr sz="2220" b="1">
                <a:solidFill>
                  <a:srgbClr val="56E3CF"/>
                </a:solidFill>
                <a:latin typeface="DejaVu Sans"/>
              </a:defRPr>
            </a:pPr>
            <a:r>
              <a:t>Compare real</a:t>
            </a:r>
          </a:p>
          <a:p>
            <a:pPr>
              <a:spcAft>
                <a:spcPts val="666"/>
              </a:spcAft>
              <a:defRPr sz="2220" b="1">
                <a:solidFill>
                  <a:srgbClr val="56E3CF"/>
                </a:solidFill>
                <a:latin typeface="DejaVu Sans"/>
              </a:defRPr>
            </a:pPr>
            <a:r>
              <a:t>options</a:t>
            </a:r>
          </a:p>
        </p:txBody>
      </p:sp>
      <p:sp>
        <p:nvSpPr>
          <p:cNvPr id="10" name="TextBox 9"/>
          <p:cNvSpPr txBox="1"/>
          <p:nvPr/>
        </p:nvSpPr>
        <p:spPr>
          <a:xfrm>
            <a:off x="723900" y="3467100"/>
            <a:ext cx="3048000" cy="1345692"/>
          </a:xfrm>
          <a:prstGeom prst="rect">
            <a:avLst/>
          </a:prstGeom>
          <a:noFill/>
        </p:spPr>
        <p:txBody>
          <a:bodyPr wrap="none" lIns="0" rIns="0" tIns="0" bIns="0">
            <a:spAutoFit/>
          </a:bodyPr>
          <a:lstStyle/>
          <a:p>
            <a:pPr>
              <a:spcAft>
                <a:spcPts val="522"/>
              </a:spcAft>
              <a:defRPr sz="1739" b="0">
                <a:solidFill>
                  <a:srgbClr val="F1F6F7"/>
                </a:solidFill>
                <a:latin typeface="DejaVu Sans"/>
              </a:defRPr>
            </a:pPr>
            <a:r>
              <a:t>Distance, published pickup</a:t>
            </a:r>
          </a:p>
          <a:p>
            <a:pPr>
              <a:spcAft>
                <a:spcPts val="522"/>
              </a:spcAft>
              <a:defRPr sz="1739" b="0">
                <a:solidFill>
                  <a:srgbClr val="F1F6F7"/>
                </a:solidFill>
                <a:latin typeface="DejaVu Sans"/>
              </a:defRPr>
            </a:pPr>
            <a:r>
              <a:t>windows, and known</a:t>
            </a:r>
          </a:p>
          <a:p>
            <a:pPr>
              <a:spcAft>
                <a:spcPts val="522"/>
              </a:spcAft>
              <a:defRPr sz="1739" b="0">
                <a:solidFill>
                  <a:srgbClr val="F1F6F7"/>
                </a:solidFill>
                <a:latin typeface="DejaVu Sans"/>
              </a:defRPr>
            </a:pPr>
            <a:r>
              <a:t>requirements inform</a:t>
            </a:r>
          </a:p>
          <a:p>
            <a:pPr>
              <a:spcAft>
                <a:spcPts val="522"/>
              </a:spcAft>
              <a:defRPr sz="1739" b="0">
                <a:solidFill>
                  <a:srgbClr val="F1F6F7"/>
                </a:solidFill>
                <a:latin typeface="DejaVu Sans"/>
              </a:defRPr>
            </a:pPr>
            <a:r>
              <a:t>comparisons.</a:t>
            </a:r>
          </a:p>
        </p:txBody>
      </p:sp>
      <p:sp>
        <p:nvSpPr>
          <p:cNvPr id="11" name="Rounded Rectangle 10"/>
          <p:cNvSpPr/>
          <p:nvPr/>
        </p:nvSpPr>
        <p:spPr>
          <a:xfrm>
            <a:off x="4305300" y="2095499"/>
            <a:ext cx="3581400" cy="3162300"/>
          </a:xfrm>
          <a:prstGeom prst="roundRect">
            <a:avLst/>
          </a:prstGeom>
          <a:solidFill>
            <a:srgbClr val="142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33900" y="2438400"/>
            <a:ext cx="3086100" cy="533019"/>
          </a:xfrm>
          <a:prstGeom prst="rect">
            <a:avLst/>
          </a:prstGeom>
          <a:noFill/>
        </p:spPr>
        <p:txBody>
          <a:bodyPr wrap="none" lIns="0" rIns="0" tIns="0" bIns="0">
            <a:spAutoFit/>
          </a:bodyPr>
          <a:lstStyle/>
          <a:p>
            <a:pPr>
              <a:spcAft>
                <a:spcPts val="666"/>
              </a:spcAft>
              <a:defRPr sz="2220" b="1">
                <a:solidFill>
                  <a:srgbClr val="56E3CF"/>
                </a:solidFill>
                <a:latin typeface="DejaVu Sans"/>
              </a:defRPr>
            </a:pPr>
            <a:r>
              <a:t>Explain the choices</a:t>
            </a:r>
          </a:p>
        </p:txBody>
      </p:sp>
      <p:sp>
        <p:nvSpPr>
          <p:cNvPr id="13" name="TextBox 12"/>
          <p:cNvSpPr txBox="1"/>
          <p:nvPr/>
        </p:nvSpPr>
        <p:spPr>
          <a:xfrm>
            <a:off x="4533900" y="3467100"/>
            <a:ext cx="3048000" cy="1345692"/>
          </a:xfrm>
          <a:prstGeom prst="rect">
            <a:avLst/>
          </a:prstGeom>
          <a:noFill/>
        </p:spPr>
        <p:txBody>
          <a:bodyPr wrap="none" lIns="0" rIns="0" tIns="0" bIns="0">
            <a:spAutoFit/>
          </a:bodyPr>
          <a:lstStyle/>
          <a:p>
            <a:pPr>
              <a:spcAft>
                <a:spcPts val="522"/>
              </a:spcAft>
              <a:defRPr sz="1739" b="0">
                <a:solidFill>
                  <a:srgbClr val="F1F6F7"/>
                </a:solidFill>
                <a:latin typeface="DejaVu Sans"/>
              </a:defRPr>
            </a:pPr>
            <a:r>
              <a:t>When configured, hosted</a:t>
            </a:r>
          </a:p>
          <a:p>
            <a:pPr>
              <a:spcAft>
                <a:spcPts val="522"/>
              </a:spcAft>
              <a:defRPr sz="1739" b="0">
                <a:solidFill>
                  <a:srgbClr val="F1F6F7"/>
                </a:solidFill>
                <a:latin typeface="DejaVu Sans"/>
              </a:defRPr>
            </a:pPr>
            <a:r>
              <a:t>AI helps interpret requests</a:t>
            </a:r>
          </a:p>
          <a:p>
            <a:pPr>
              <a:spcAft>
                <a:spcPts val="522"/>
              </a:spcAft>
              <a:defRPr sz="1739" b="0">
                <a:solidFill>
                  <a:srgbClr val="F1F6F7"/>
                </a:solidFill>
                <a:latin typeface="DejaVu Sans"/>
              </a:defRPr>
            </a:pPr>
            <a:r>
              <a:t>and summarize listed</a:t>
            </a:r>
          </a:p>
          <a:p>
            <a:pPr>
              <a:spcAft>
                <a:spcPts val="522"/>
              </a:spcAft>
              <a:defRPr sz="1739" b="0">
                <a:solidFill>
                  <a:srgbClr val="F1F6F7"/>
                </a:solidFill>
                <a:latin typeface="DejaVu Sans"/>
              </a:defRPr>
            </a:pPr>
            <a:r>
              <a:t>facts.</a:t>
            </a:r>
          </a:p>
        </p:txBody>
      </p:sp>
      <p:sp>
        <p:nvSpPr>
          <p:cNvPr id="14" name="Rounded Rectangle 13"/>
          <p:cNvSpPr/>
          <p:nvPr/>
        </p:nvSpPr>
        <p:spPr>
          <a:xfrm>
            <a:off x="8115300" y="2095499"/>
            <a:ext cx="3581400" cy="3162300"/>
          </a:xfrm>
          <a:prstGeom prst="roundRect">
            <a:avLst/>
          </a:prstGeom>
          <a:solidFill>
            <a:srgbClr val="142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43900" y="2438400"/>
            <a:ext cx="3086100" cy="533019"/>
          </a:xfrm>
          <a:prstGeom prst="rect">
            <a:avLst/>
          </a:prstGeom>
          <a:noFill/>
        </p:spPr>
        <p:txBody>
          <a:bodyPr wrap="none" lIns="0" rIns="0" tIns="0" bIns="0">
            <a:spAutoFit/>
          </a:bodyPr>
          <a:lstStyle/>
          <a:p>
            <a:pPr>
              <a:spcAft>
                <a:spcPts val="666"/>
              </a:spcAft>
              <a:defRPr sz="2220" b="1">
                <a:solidFill>
                  <a:srgbClr val="56E3CF"/>
                </a:solidFill>
                <a:latin typeface="DejaVu Sans"/>
              </a:defRPr>
            </a:pPr>
            <a:r>
              <a:t>Keep a fallback</a:t>
            </a:r>
          </a:p>
        </p:txBody>
      </p:sp>
      <p:sp>
        <p:nvSpPr>
          <p:cNvPr id="16" name="TextBox 15"/>
          <p:cNvSpPr txBox="1"/>
          <p:nvPr/>
        </p:nvSpPr>
        <p:spPr>
          <a:xfrm>
            <a:off x="8343900" y="3467100"/>
            <a:ext cx="3048000" cy="1047368"/>
          </a:xfrm>
          <a:prstGeom prst="rect">
            <a:avLst/>
          </a:prstGeom>
          <a:noFill/>
        </p:spPr>
        <p:txBody>
          <a:bodyPr wrap="none" lIns="0" rIns="0" tIns="0" bIns="0">
            <a:spAutoFit/>
          </a:bodyPr>
          <a:lstStyle/>
          <a:p>
            <a:pPr>
              <a:spcAft>
                <a:spcPts val="522"/>
              </a:spcAft>
              <a:defRPr sz="1739" b="0">
                <a:solidFill>
                  <a:srgbClr val="F1F6F7"/>
                </a:solidFill>
                <a:latin typeface="DejaVu Sans"/>
              </a:defRPr>
            </a:pPr>
            <a:r>
              <a:t>Directory results remain</a:t>
            </a:r>
          </a:p>
          <a:p>
            <a:pPr>
              <a:spcAft>
                <a:spcPts val="522"/>
              </a:spcAft>
              <a:defRPr sz="1739" b="0">
                <a:solidFill>
                  <a:srgbClr val="F1F6F7"/>
                </a:solidFill>
                <a:latin typeface="DejaVu Sans"/>
              </a:defRPr>
            </a:pPr>
            <a:r>
              <a:t>available when AI cannot</a:t>
            </a:r>
          </a:p>
          <a:p>
            <a:pPr>
              <a:spcAft>
                <a:spcPts val="522"/>
              </a:spcAft>
              <a:defRPr sz="1739" b="0">
                <a:solidFill>
                  <a:srgbClr val="F1F6F7"/>
                </a:solidFill>
                <a:latin typeface="DejaVu Sans"/>
              </a:defRPr>
            </a:pPr>
            <a:r>
              <a:t>respond.</a:t>
            </a:r>
          </a:p>
        </p:txBody>
      </p:sp>
      <p:sp>
        <p:nvSpPr>
          <p:cNvPr id="17" name="TextBox 16"/>
          <p:cNvSpPr txBox="1"/>
          <p:nvPr/>
        </p:nvSpPr>
        <p:spPr>
          <a:xfrm>
            <a:off x="571500" y="5753100"/>
            <a:ext cx="10896600" cy="409575"/>
          </a:xfrm>
          <a:prstGeom prst="rect">
            <a:avLst/>
          </a:prstGeom>
          <a:noFill/>
        </p:spPr>
        <p:txBody>
          <a:bodyPr wrap="none" lIns="0" rIns="0" tIns="0" bIns="0">
            <a:spAutoFit/>
          </a:bodyPr>
          <a:lstStyle/>
          <a:p>
            <a:pPr>
              <a:spcAft>
                <a:spcPts val="450"/>
              </a:spcAft>
              <a:defRPr sz="1500" b="0">
                <a:solidFill>
                  <a:srgbClr val="ABC1CA"/>
                </a:solidFill>
                <a:latin typeface="DejaVu Sans"/>
              </a:defRPr>
            </a:pPr>
            <a:r>
              <a:t>No fabricated locations, live stock claims, or guaranteed “perfect” match.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820"/>
        </a:solidFill>
        <a:effectLst/>
      </p:bgPr>
    </p:bg>
    <p:spTree>
      <p:nvGrpSpPr>
        <p:cNvPr id="1" name=""/>
        <p:cNvGrpSpPr/>
        <p:nvPr/>
      </p:nvGrpSpPr>
      <p:grpSpPr/>
      <p:sp>
        <p:nvSpPr>
          <p:cNvPr id="2" name="TextBox 1"/>
          <p:cNvSpPr txBox="1"/>
          <p:nvPr/>
        </p:nvSpPr>
        <p:spPr>
          <a:xfrm>
            <a:off x="495299" y="266700"/>
            <a:ext cx="2667000" cy="409575"/>
          </a:xfrm>
          <a:prstGeom prst="rect">
            <a:avLst/>
          </a:prstGeom>
          <a:noFill/>
        </p:spPr>
        <p:txBody>
          <a:bodyPr wrap="none" lIns="0" rIns="0" tIns="0" bIns="0">
            <a:spAutoFit/>
          </a:bodyPr>
          <a:lstStyle/>
          <a:p>
            <a:pPr>
              <a:spcAft>
                <a:spcPts val="450"/>
              </a:spcAft>
              <a:defRPr sz="1500" b="1">
                <a:solidFill>
                  <a:srgbClr val="56E3CF"/>
                </a:solidFill>
                <a:latin typeface="DejaVu Sans"/>
              </a:defRPr>
            </a:pPr>
            <a:r>
              <a:t>ReachAI</a:t>
            </a:r>
          </a:p>
        </p:txBody>
      </p:sp>
      <p:sp>
        <p:nvSpPr>
          <p:cNvPr id="3" name="TextBox 2"/>
          <p:cNvSpPr txBox="1"/>
          <p:nvPr/>
        </p:nvSpPr>
        <p:spPr>
          <a:xfrm>
            <a:off x="6629400" y="297180"/>
            <a:ext cx="5029200" cy="327279"/>
          </a:xfrm>
          <a:prstGeom prst="rect">
            <a:avLst/>
          </a:prstGeom>
          <a:noFill/>
        </p:spPr>
        <p:txBody>
          <a:bodyPr wrap="none" lIns="0" rIns="0" tIns="0" bIns="0">
            <a:spAutoFit/>
          </a:bodyPr>
          <a:lstStyle/>
          <a:p>
            <a:pPr>
              <a:spcAft>
                <a:spcPts val="306"/>
              </a:spcAft>
              <a:defRPr sz="1019" b="0">
                <a:solidFill>
                  <a:srgbClr val="ABC1CA"/>
                </a:solidFill>
                <a:latin typeface="DejaVu Sans"/>
              </a:defRPr>
            </a:pPr>
            <a:r>
              <a:t>DEMO 03 / COMMUNITY</a:t>
            </a:r>
          </a:p>
        </p:txBody>
      </p:sp>
      <p:sp>
        <p:nvSpPr>
          <p:cNvPr id="4" name="Rectangle 3"/>
          <p:cNvSpPr/>
          <p:nvPr/>
        </p:nvSpPr>
        <p:spPr>
          <a:xfrm>
            <a:off x="495299" y="693420"/>
            <a:ext cx="11201400" cy="15240"/>
          </a:xfrm>
          <a:prstGeom prst="rect">
            <a:avLst/>
          </a:prstGeom>
          <a:solidFill>
            <a:srgbClr val="2C46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5299" y="1028700"/>
            <a:ext cx="10934700" cy="707898"/>
          </a:xfrm>
          <a:prstGeom prst="rect">
            <a:avLst/>
          </a:prstGeom>
          <a:noFill/>
        </p:spPr>
        <p:txBody>
          <a:bodyPr wrap="none" lIns="0" rIns="0" tIns="0" bIns="0">
            <a:spAutoFit/>
          </a:bodyPr>
          <a:lstStyle/>
          <a:p>
            <a:pPr>
              <a:spcAft>
                <a:spcPts val="971"/>
              </a:spcAft>
              <a:defRPr sz="3240" b="1">
                <a:solidFill>
                  <a:srgbClr val="F1F6F7"/>
                </a:solidFill>
                <a:latin typeface="DejaVu Sans"/>
              </a:defRPr>
            </a:pPr>
            <a:r>
              <a:t>Share food. Review before publishing.</a:t>
            </a:r>
          </a:p>
        </p:txBody>
      </p:sp>
      <p:sp>
        <p:nvSpPr>
          <p:cNvPr id="6" name="TextBox 5"/>
          <p:cNvSpPr txBox="1"/>
          <p:nvPr/>
        </p:nvSpPr>
        <p:spPr>
          <a:xfrm>
            <a:off x="495299" y="6522720"/>
            <a:ext cx="7620000" cy="306705"/>
          </a:xfrm>
          <a:prstGeom prst="rect">
            <a:avLst/>
          </a:prstGeom>
          <a:noFill/>
        </p:spPr>
        <p:txBody>
          <a:bodyPr wrap="none" lIns="0" rIns="0" tIns="0" bIns="0">
            <a:spAutoFit/>
          </a:bodyPr>
          <a:lstStyle/>
          <a:p>
            <a:pPr>
              <a:spcAft>
                <a:spcPts val="270"/>
              </a:spcAft>
              <a:defRPr sz="900" b="0">
                <a:solidFill>
                  <a:srgbClr val="ABC1CA"/>
                </a:solidFill>
                <a:latin typeface="DejaVu Sans"/>
              </a:defRPr>
            </a:pPr>
            <a:r>
              <a:t>CONGRESSIONAL APP CHALLENGE</a:t>
            </a:r>
          </a:p>
        </p:txBody>
      </p:sp>
      <p:sp>
        <p:nvSpPr>
          <p:cNvPr id="7" name="TextBox 6"/>
          <p:cNvSpPr txBox="1"/>
          <p:nvPr/>
        </p:nvSpPr>
        <p:spPr>
          <a:xfrm>
            <a:off x="11125200" y="6477000"/>
            <a:ext cx="495299" cy="378714"/>
          </a:xfrm>
          <a:prstGeom prst="rect">
            <a:avLst/>
          </a:prstGeom>
          <a:noFill/>
        </p:spPr>
        <p:txBody>
          <a:bodyPr wrap="none" lIns="0" rIns="0" tIns="0" bIns="0">
            <a:spAutoFit/>
          </a:bodyPr>
          <a:lstStyle/>
          <a:p>
            <a:pPr>
              <a:spcAft>
                <a:spcPts val="396"/>
              </a:spcAft>
              <a:defRPr sz="1320" b="0">
                <a:solidFill>
                  <a:srgbClr val="56E3CF"/>
                </a:solidFill>
                <a:latin typeface="DejaVu Sans"/>
              </a:defRPr>
            </a:pPr>
            <a:r>
              <a:t>07</a:t>
            </a:r>
          </a:p>
        </p:txBody>
      </p:sp>
      <p:sp>
        <p:nvSpPr>
          <p:cNvPr id="8" name="TextBox 7"/>
          <p:cNvSpPr txBox="1"/>
          <p:nvPr/>
        </p:nvSpPr>
        <p:spPr>
          <a:xfrm>
            <a:off x="533400" y="2133600"/>
            <a:ext cx="6858000" cy="615315"/>
          </a:xfrm>
          <a:prstGeom prst="rect">
            <a:avLst/>
          </a:prstGeom>
          <a:noFill/>
        </p:spPr>
        <p:txBody>
          <a:bodyPr wrap="none" lIns="0" rIns="0" tIns="0" bIns="0">
            <a:spAutoFit/>
          </a:bodyPr>
          <a:lstStyle/>
          <a:p>
            <a:pPr>
              <a:spcAft>
                <a:spcPts val="810"/>
              </a:spcAft>
              <a:defRPr sz="2700" b="1">
                <a:solidFill>
                  <a:srgbClr val="56E3CF"/>
                </a:solidFill>
                <a:latin typeface="DejaVu Sans"/>
              </a:defRPr>
            </a:pPr>
            <a:r>
              <a:t>Host a Food Pickup</a:t>
            </a:r>
          </a:p>
        </p:txBody>
      </p:sp>
      <p:sp>
        <p:nvSpPr>
          <p:cNvPr id="9" name="TextBox 8"/>
          <p:cNvSpPr txBox="1"/>
          <p:nvPr/>
        </p:nvSpPr>
        <p:spPr>
          <a:xfrm>
            <a:off x="571500" y="2667000"/>
            <a:ext cx="6629400" cy="461010"/>
          </a:xfrm>
          <a:prstGeom prst="rect">
            <a:avLst/>
          </a:prstGeom>
          <a:noFill/>
        </p:spPr>
        <p:txBody>
          <a:bodyPr wrap="none" lIns="0" rIns="0" tIns="0" bIns="0">
            <a:spAutoFit/>
          </a:bodyPr>
          <a:lstStyle/>
          <a:p>
            <a:pPr>
              <a:spcAft>
                <a:spcPts val="540"/>
              </a:spcAft>
              <a:defRPr sz="1800" b="0">
                <a:solidFill>
                  <a:srgbClr val="ABC1CA"/>
                </a:solidFill>
                <a:latin typeface="DejaVu Sans"/>
              </a:defRPr>
            </a:pPr>
            <a:r>
              <a:t>Community meals and pickup events.</a:t>
            </a:r>
          </a:p>
        </p:txBody>
      </p:sp>
      <p:sp>
        <p:nvSpPr>
          <p:cNvPr id="10" name="TextBox 9"/>
          <p:cNvSpPr txBox="1"/>
          <p:nvPr/>
        </p:nvSpPr>
        <p:spPr>
          <a:xfrm>
            <a:off x="533400" y="3429000"/>
            <a:ext cx="6858000" cy="615315"/>
          </a:xfrm>
          <a:prstGeom prst="rect">
            <a:avLst/>
          </a:prstGeom>
          <a:noFill/>
        </p:spPr>
        <p:txBody>
          <a:bodyPr wrap="none" lIns="0" rIns="0" tIns="0" bIns="0">
            <a:spAutoFit/>
          </a:bodyPr>
          <a:lstStyle/>
          <a:p>
            <a:pPr>
              <a:spcAft>
                <a:spcPts val="810"/>
              </a:spcAft>
              <a:defRPr sz="2700" b="1">
                <a:solidFill>
                  <a:srgbClr val="56E3CF"/>
                </a:solidFill>
                <a:latin typeface="DejaVu Sans"/>
              </a:defRPr>
            </a:pPr>
            <a:r>
              <a:t>Share Extra Food</a:t>
            </a:r>
          </a:p>
        </p:txBody>
      </p:sp>
      <p:sp>
        <p:nvSpPr>
          <p:cNvPr id="11" name="TextBox 10"/>
          <p:cNvSpPr txBox="1"/>
          <p:nvPr/>
        </p:nvSpPr>
        <p:spPr>
          <a:xfrm>
            <a:off x="571500" y="3962399"/>
            <a:ext cx="6629400" cy="461010"/>
          </a:xfrm>
          <a:prstGeom prst="rect">
            <a:avLst/>
          </a:prstGeom>
          <a:noFill/>
        </p:spPr>
        <p:txBody>
          <a:bodyPr wrap="none" lIns="0" rIns="0" tIns="0" bIns="0">
            <a:spAutoFit/>
          </a:bodyPr>
          <a:lstStyle/>
          <a:p>
            <a:pPr>
              <a:spcAft>
                <a:spcPts val="540"/>
              </a:spcAft>
              <a:defRPr sz="1800" b="0">
                <a:solidFill>
                  <a:srgbClr val="ABC1CA"/>
                </a:solidFill>
                <a:latin typeface="DejaVu Sans"/>
              </a:defRPr>
            </a:pPr>
            <a:r>
              <a:t>Sealed, shelf-stable groceries.</a:t>
            </a:r>
          </a:p>
        </p:txBody>
      </p:sp>
      <p:sp>
        <p:nvSpPr>
          <p:cNvPr id="12" name="TextBox 11"/>
          <p:cNvSpPr txBox="1"/>
          <p:nvPr/>
        </p:nvSpPr>
        <p:spPr>
          <a:xfrm>
            <a:off x="571500" y="5257800"/>
            <a:ext cx="7048500" cy="450723"/>
          </a:xfrm>
          <a:prstGeom prst="rect">
            <a:avLst/>
          </a:prstGeom>
          <a:noFill/>
        </p:spPr>
        <p:txBody>
          <a:bodyPr wrap="none" lIns="0" rIns="0" tIns="0" bIns="0">
            <a:spAutoFit/>
          </a:bodyPr>
          <a:lstStyle/>
          <a:p>
            <a:pPr>
              <a:spcAft>
                <a:spcPts val="522"/>
              </a:spcAft>
              <a:defRPr sz="1739" b="1">
                <a:solidFill>
                  <a:srgbClr val="F1F6F7"/>
                </a:solidFill>
                <a:latin typeface="DejaVu Sans"/>
              </a:defRPr>
            </a:pPr>
            <a:r>
              <a:t>Submit → Moderator review → Public listing</a:t>
            </a:r>
          </a:p>
        </p:txBody>
      </p:sp>
      <p:sp>
        <p:nvSpPr>
          <p:cNvPr id="13" name="Rounded Rectangle 12"/>
          <p:cNvSpPr/>
          <p:nvPr/>
        </p:nvSpPr>
        <p:spPr>
          <a:xfrm>
            <a:off x="8641080" y="1485900"/>
            <a:ext cx="2293620" cy="4800600"/>
          </a:xfrm>
          <a:prstGeom prst="roundRect">
            <a:avLst/>
          </a:prstGeom>
          <a:solidFill>
            <a:srgbClr val="2C46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share.png"/>
          <p:cNvPicPr>
            <a:picLocks noChangeAspect="1"/>
          </p:cNvPicPr>
          <p:nvPr/>
        </p:nvPicPr>
        <p:blipFill>
          <a:blip r:embed="rId2"/>
          <a:stretch>
            <a:fillRect/>
          </a:stretch>
        </p:blipFill>
        <p:spPr>
          <a:xfrm>
            <a:off x="8717280" y="1562100"/>
            <a:ext cx="2141220" cy="4648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820"/>
        </a:solidFill>
        <a:effectLst/>
      </p:bgPr>
    </p:bg>
    <p:spTree>
      <p:nvGrpSpPr>
        <p:cNvPr id="1" name=""/>
        <p:cNvGrpSpPr/>
        <p:nvPr/>
      </p:nvGrpSpPr>
      <p:grpSpPr/>
      <p:sp>
        <p:nvSpPr>
          <p:cNvPr id="2" name="TextBox 1"/>
          <p:cNvSpPr txBox="1"/>
          <p:nvPr/>
        </p:nvSpPr>
        <p:spPr>
          <a:xfrm>
            <a:off x="495299" y="266700"/>
            <a:ext cx="2667000" cy="409575"/>
          </a:xfrm>
          <a:prstGeom prst="rect">
            <a:avLst/>
          </a:prstGeom>
          <a:noFill/>
        </p:spPr>
        <p:txBody>
          <a:bodyPr wrap="none" lIns="0" rIns="0" tIns="0" bIns="0">
            <a:spAutoFit/>
          </a:bodyPr>
          <a:lstStyle/>
          <a:p>
            <a:pPr>
              <a:spcAft>
                <a:spcPts val="450"/>
              </a:spcAft>
              <a:defRPr sz="1500" b="1">
                <a:solidFill>
                  <a:srgbClr val="56E3CF"/>
                </a:solidFill>
                <a:latin typeface="DejaVu Sans"/>
              </a:defRPr>
            </a:pPr>
            <a:r>
              <a:t>ReachAI</a:t>
            </a:r>
          </a:p>
        </p:txBody>
      </p:sp>
      <p:sp>
        <p:nvSpPr>
          <p:cNvPr id="3" name="TextBox 2"/>
          <p:cNvSpPr txBox="1"/>
          <p:nvPr/>
        </p:nvSpPr>
        <p:spPr>
          <a:xfrm>
            <a:off x="6629400" y="297180"/>
            <a:ext cx="5029200" cy="327279"/>
          </a:xfrm>
          <a:prstGeom prst="rect">
            <a:avLst/>
          </a:prstGeom>
          <a:noFill/>
        </p:spPr>
        <p:txBody>
          <a:bodyPr wrap="none" lIns="0" rIns="0" tIns="0" bIns="0">
            <a:spAutoFit/>
          </a:bodyPr>
          <a:lstStyle/>
          <a:p>
            <a:pPr>
              <a:spcAft>
                <a:spcPts val="306"/>
              </a:spcAft>
              <a:defRPr sz="1019" b="0">
                <a:solidFill>
                  <a:srgbClr val="ABC1CA"/>
                </a:solidFill>
                <a:latin typeface="DejaVu Sans"/>
              </a:defRPr>
            </a:pPr>
            <a:r>
              <a:t>ENGINEERING</a:t>
            </a:r>
          </a:p>
        </p:txBody>
      </p:sp>
      <p:sp>
        <p:nvSpPr>
          <p:cNvPr id="4" name="Rectangle 3"/>
          <p:cNvSpPr/>
          <p:nvPr/>
        </p:nvSpPr>
        <p:spPr>
          <a:xfrm>
            <a:off x="495299" y="693420"/>
            <a:ext cx="11201400" cy="15240"/>
          </a:xfrm>
          <a:prstGeom prst="rect">
            <a:avLst/>
          </a:prstGeom>
          <a:solidFill>
            <a:srgbClr val="2C46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5299" y="1028700"/>
            <a:ext cx="10934700" cy="707898"/>
          </a:xfrm>
          <a:prstGeom prst="rect">
            <a:avLst/>
          </a:prstGeom>
          <a:noFill/>
        </p:spPr>
        <p:txBody>
          <a:bodyPr wrap="none" lIns="0" rIns="0" tIns="0" bIns="0">
            <a:spAutoFit/>
          </a:bodyPr>
          <a:lstStyle/>
          <a:p>
            <a:pPr>
              <a:spcAft>
                <a:spcPts val="971"/>
              </a:spcAft>
              <a:defRPr sz="3240" b="1">
                <a:solidFill>
                  <a:srgbClr val="F1F6F7"/>
                </a:solidFill>
                <a:latin typeface="DejaVu Sans"/>
              </a:defRPr>
            </a:pPr>
            <a:r>
              <a:t>Built for a dependable core.</a:t>
            </a:r>
          </a:p>
        </p:txBody>
      </p:sp>
      <p:sp>
        <p:nvSpPr>
          <p:cNvPr id="6" name="TextBox 5"/>
          <p:cNvSpPr txBox="1"/>
          <p:nvPr/>
        </p:nvSpPr>
        <p:spPr>
          <a:xfrm>
            <a:off x="495299" y="6522720"/>
            <a:ext cx="7620000" cy="306705"/>
          </a:xfrm>
          <a:prstGeom prst="rect">
            <a:avLst/>
          </a:prstGeom>
          <a:noFill/>
        </p:spPr>
        <p:txBody>
          <a:bodyPr wrap="none" lIns="0" rIns="0" tIns="0" bIns="0">
            <a:spAutoFit/>
          </a:bodyPr>
          <a:lstStyle/>
          <a:p>
            <a:pPr>
              <a:spcAft>
                <a:spcPts val="270"/>
              </a:spcAft>
              <a:defRPr sz="900" b="0">
                <a:solidFill>
                  <a:srgbClr val="ABC1CA"/>
                </a:solidFill>
                <a:latin typeface="DejaVu Sans"/>
              </a:defRPr>
            </a:pPr>
            <a:r>
              <a:t>CONGRESSIONAL APP CHALLENGE</a:t>
            </a:r>
          </a:p>
        </p:txBody>
      </p:sp>
      <p:sp>
        <p:nvSpPr>
          <p:cNvPr id="7" name="TextBox 6"/>
          <p:cNvSpPr txBox="1"/>
          <p:nvPr/>
        </p:nvSpPr>
        <p:spPr>
          <a:xfrm>
            <a:off x="11125200" y="6477000"/>
            <a:ext cx="495299" cy="378714"/>
          </a:xfrm>
          <a:prstGeom prst="rect">
            <a:avLst/>
          </a:prstGeom>
          <a:noFill/>
        </p:spPr>
        <p:txBody>
          <a:bodyPr wrap="none" lIns="0" rIns="0" tIns="0" bIns="0">
            <a:spAutoFit/>
          </a:bodyPr>
          <a:lstStyle/>
          <a:p>
            <a:pPr>
              <a:spcAft>
                <a:spcPts val="396"/>
              </a:spcAft>
              <a:defRPr sz="1320" b="0">
                <a:solidFill>
                  <a:srgbClr val="56E3CF"/>
                </a:solidFill>
                <a:latin typeface="DejaVu Sans"/>
              </a:defRPr>
            </a:pPr>
            <a:r>
              <a:t>08</a:t>
            </a:r>
          </a:p>
        </p:txBody>
      </p:sp>
      <p:sp>
        <p:nvSpPr>
          <p:cNvPr id="8" name="Rounded Rectangle 7"/>
          <p:cNvSpPr/>
          <p:nvPr/>
        </p:nvSpPr>
        <p:spPr>
          <a:xfrm>
            <a:off x="495299" y="1981199"/>
            <a:ext cx="5448300" cy="1638300"/>
          </a:xfrm>
          <a:prstGeom prst="roundRect">
            <a:avLst/>
          </a:prstGeom>
          <a:solidFill>
            <a:srgbClr val="142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3900" y="2171700"/>
            <a:ext cx="4953000" cy="337566"/>
          </a:xfrm>
          <a:prstGeom prst="rect">
            <a:avLst/>
          </a:prstGeom>
          <a:noFill/>
        </p:spPr>
        <p:txBody>
          <a:bodyPr wrap="none" lIns="0" rIns="0" tIns="0" bIns="0">
            <a:spAutoFit/>
          </a:bodyPr>
          <a:lstStyle/>
          <a:p>
            <a:pPr>
              <a:spcAft>
                <a:spcPts val="324"/>
              </a:spcAft>
              <a:defRPr sz="1080" b="1">
                <a:solidFill>
                  <a:srgbClr val="56E3CF"/>
                </a:solidFill>
                <a:latin typeface="DejaVu Sans"/>
              </a:defRPr>
            </a:pPr>
            <a:r>
              <a:t>INTERFACE</a:t>
            </a:r>
          </a:p>
        </p:txBody>
      </p:sp>
      <p:sp>
        <p:nvSpPr>
          <p:cNvPr id="10" name="TextBox 9"/>
          <p:cNvSpPr txBox="1"/>
          <p:nvPr/>
        </p:nvSpPr>
        <p:spPr>
          <a:xfrm>
            <a:off x="723900" y="2499360"/>
            <a:ext cx="4953000" cy="543306"/>
          </a:xfrm>
          <a:prstGeom prst="rect">
            <a:avLst/>
          </a:prstGeom>
          <a:noFill/>
        </p:spPr>
        <p:txBody>
          <a:bodyPr wrap="none" lIns="0" rIns="0" tIns="0" bIns="0">
            <a:spAutoFit/>
          </a:bodyPr>
          <a:lstStyle/>
          <a:p>
            <a:pPr>
              <a:spcAft>
                <a:spcPts val="684"/>
              </a:spcAft>
              <a:defRPr sz="2280" b="1">
                <a:solidFill>
                  <a:srgbClr val="F1F6F7"/>
                </a:solidFill>
                <a:latin typeface="DejaVu Sans"/>
              </a:defRPr>
            </a:pPr>
            <a:r>
              <a:t>Next.js + React</a:t>
            </a:r>
          </a:p>
        </p:txBody>
      </p:sp>
      <p:sp>
        <p:nvSpPr>
          <p:cNvPr id="11" name="TextBox 10"/>
          <p:cNvSpPr txBox="1"/>
          <p:nvPr/>
        </p:nvSpPr>
        <p:spPr>
          <a:xfrm>
            <a:off x="723900" y="3009900"/>
            <a:ext cx="4953000" cy="430149"/>
          </a:xfrm>
          <a:prstGeom prst="rect">
            <a:avLst/>
          </a:prstGeom>
          <a:noFill/>
        </p:spPr>
        <p:txBody>
          <a:bodyPr wrap="none" lIns="0" rIns="0" tIns="0" bIns="0">
            <a:spAutoFit/>
          </a:bodyPr>
          <a:lstStyle/>
          <a:p>
            <a:pPr>
              <a:spcAft>
                <a:spcPts val="485"/>
              </a:spcAft>
              <a:defRPr sz="1620" b="0">
                <a:solidFill>
                  <a:srgbClr val="ABC1CA"/>
                </a:solidFill>
                <a:latin typeface="DejaVu Sans"/>
              </a:defRPr>
            </a:pPr>
            <a:r>
              <a:t>Mobile-first screens</a:t>
            </a:r>
          </a:p>
        </p:txBody>
      </p:sp>
      <p:sp>
        <p:nvSpPr>
          <p:cNvPr id="12" name="Rounded Rectangle 11"/>
          <p:cNvSpPr/>
          <p:nvPr/>
        </p:nvSpPr>
        <p:spPr>
          <a:xfrm>
            <a:off x="6210300" y="1981199"/>
            <a:ext cx="5448300" cy="1638300"/>
          </a:xfrm>
          <a:prstGeom prst="roundRect">
            <a:avLst/>
          </a:prstGeom>
          <a:solidFill>
            <a:srgbClr val="142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8900" y="2171700"/>
            <a:ext cx="4953000" cy="337566"/>
          </a:xfrm>
          <a:prstGeom prst="rect">
            <a:avLst/>
          </a:prstGeom>
          <a:noFill/>
        </p:spPr>
        <p:txBody>
          <a:bodyPr wrap="none" lIns="0" rIns="0" tIns="0" bIns="0">
            <a:spAutoFit/>
          </a:bodyPr>
          <a:lstStyle/>
          <a:p>
            <a:pPr>
              <a:spcAft>
                <a:spcPts val="324"/>
              </a:spcAft>
              <a:defRPr sz="1080" b="1">
                <a:solidFill>
                  <a:srgbClr val="56E3CF"/>
                </a:solidFill>
                <a:latin typeface="DejaVu Sans"/>
              </a:defRPr>
            </a:pPr>
            <a:r>
              <a:t>APPLICATION</a:t>
            </a:r>
          </a:p>
        </p:txBody>
      </p:sp>
      <p:sp>
        <p:nvSpPr>
          <p:cNvPr id="14" name="TextBox 13"/>
          <p:cNvSpPr txBox="1"/>
          <p:nvPr/>
        </p:nvSpPr>
        <p:spPr>
          <a:xfrm>
            <a:off x="6438900" y="2499360"/>
            <a:ext cx="4953000" cy="543306"/>
          </a:xfrm>
          <a:prstGeom prst="rect">
            <a:avLst/>
          </a:prstGeom>
          <a:noFill/>
        </p:spPr>
        <p:txBody>
          <a:bodyPr wrap="none" lIns="0" rIns="0" tIns="0" bIns="0">
            <a:spAutoFit/>
          </a:bodyPr>
          <a:lstStyle/>
          <a:p>
            <a:pPr>
              <a:spcAft>
                <a:spcPts val="684"/>
              </a:spcAft>
              <a:defRPr sz="2280" b="1">
                <a:solidFill>
                  <a:srgbClr val="F1F6F7"/>
                </a:solidFill>
                <a:latin typeface="DejaVu Sans"/>
              </a:defRPr>
            </a:pPr>
            <a:r>
              <a:t>TypeScript</a:t>
            </a:r>
          </a:p>
        </p:txBody>
      </p:sp>
      <p:sp>
        <p:nvSpPr>
          <p:cNvPr id="15" name="TextBox 14"/>
          <p:cNvSpPr txBox="1"/>
          <p:nvPr/>
        </p:nvSpPr>
        <p:spPr>
          <a:xfrm>
            <a:off x="6438900" y="3009900"/>
            <a:ext cx="4953000" cy="430149"/>
          </a:xfrm>
          <a:prstGeom prst="rect">
            <a:avLst/>
          </a:prstGeom>
          <a:noFill/>
        </p:spPr>
        <p:txBody>
          <a:bodyPr wrap="none" lIns="0" rIns="0" tIns="0" bIns="0">
            <a:spAutoFit/>
          </a:bodyPr>
          <a:lstStyle/>
          <a:p>
            <a:pPr>
              <a:spcAft>
                <a:spcPts val="485"/>
              </a:spcAft>
              <a:defRPr sz="1620" b="0">
                <a:solidFill>
                  <a:srgbClr val="ABC1CA"/>
                </a:solidFill>
                <a:latin typeface="DejaVu Sans"/>
              </a:defRPr>
            </a:pPr>
            <a:r>
              <a:t>Search and comparison logic</a:t>
            </a:r>
          </a:p>
        </p:txBody>
      </p:sp>
      <p:sp>
        <p:nvSpPr>
          <p:cNvPr id="16" name="Rounded Rectangle 15"/>
          <p:cNvSpPr/>
          <p:nvPr/>
        </p:nvSpPr>
        <p:spPr>
          <a:xfrm>
            <a:off x="495299" y="3886200"/>
            <a:ext cx="5448300" cy="1638300"/>
          </a:xfrm>
          <a:prstGeom prst="roundRect">
            <a:avLst/>
          </a:prstGeom>
          <a:solidFill>
            <a:srgbClr val="142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3900" y="4076699"/>
            <a:ext cx="4953000" cy="337566"/>
          </a:xfrm>
          <a:prstGeom prst="rect">
            <a:avLst/>
          </a:prstGeom>
          <a:noFill/>
        </p:spPr>
        <p:txBody>
          <a:bodyPr wrap="none" lIns="0" rIns="0" tIns="0" bIns="0">
            <a:spAutoFit/>
          </a:bodyPr>
          <a:lstStyle/>
          <a:p>
            <a:pPr>
              <a:spcAft>
                <a:spcPts val="324"/>
              </a:spcAft>
              <a:defRPr sz="1080" b="1">
                <a:solidFill>
                  <a:srgbClr val="56E3CF"/>
                </a:solidFill>
                <a:latin typeface="DejaVu Sans"/>
              </a:defRPr>
            </a:pPr>
            <a:r>
              <a:t>STORAGE</a:t>
            </a:r>
          </a:p>
        </p:txBody>
      </p:sp>
      <p:sp>
        <p:nvSpPr>
          <p:cNvPr id="18" name="TextBox 17"/>
          <p:cNvSpPr txBox="1"/>
          <p:nvPr/>
        </p:nvSpPr>
        <p:spPr>
          <a:xfrm>
            <a:off x="723900" y="4404360"/>
            <a:ext cx="4953000" cy="543306"/>
          </a:xfrm>
          <a:prstGeom prst="rect">
            <a:avLst/>
          </a:prstGeom>
          <a:noFill/>
        </p:spPr>
        <p:txBody>
          <a:bodyPr wrap="none" lIns="0" rIns="0" tIns="0" bIns="0">
            <a:spAutoFit/>
          </a:bodyPr>
          <a:lstStyle/>
          <a:p>
            <a:pPr>
              <a:spcAft>
                <a:spcPts val="684"/>
              </a:spcAft>
              <a:defRPr sz="2280" b="1">
                <a:solidFill>
                  <a:srgbClr val="F1F6F7"/>
                </a:solidFill>
                <a:latin typeface="DejaVu Sans"/>
              </a:defRPr>
            </a:pPr>
            <a:r>
              <a:t>SQLite</a:t>
            </a:r>
          </a:p>
        </p:txBody>
      </p:sp>
      <p:sp>
        <p:nvSpPr>
          <p:cNvPr id="19" name="TextBox 18"/>
          <p:cNvSpPr txBox="1"/>
          <p:nvPr/>
        </p:nvSpPr>
        <p:spPr>
          <a:xfrm>
            <a:off x="723900" y="4914900"/>
            <a:ext cx="4953000" cy="430149"/>
          </a:xfrm>
          <a:prstGeom prst="rect">
            <a:avLst/>
          </a:prstGeom>
          <a:noFill/>
        </p:spPr>
        <p:txBody>
          <a:bodyPr wrap="none" lIns="0" rIns="0" tIns="0" bIns="0">
            <a:spAutoFit/>
          </a:bodyPr>
          <a:lstStyle/>
          <a:p>
            <a:pPr>
              <a:spcAft>
                <a:spcPts val="485"/>
              </a:spcAft>
              <a:defRPr sz="1620" b="0">
                <a:solidFill>
                  <a:srgbClr val="ABC1CA"/>
                </a:solidFill>
                <a:latin typeface="DejaVu Sans"/>
              </a:defRPr>
            </a:pPr>
            <a:r>
              <a:t>Listings and moderation</a:t>
            </a:r>
          </a:p>
        </p:txBody>
      </p:sp>
      <p:sp>
        <p:nvSpPr>
          <p:cNvPr id="20" name="Rounded Rectangle 19"/>
          <p:cNvSpPr/>
          <p:nvPr/>
        </p:nvSpPr>
        <p:spPr>
          <a:xfrm>
            <a:off x="6210300" y="3886200"/>
            <a:ext cx="5448300" cy="1638300"/>
          </a:xfrm>
          <a:prstGeom prst="roundRect">
            <a:avLst/>
          </a:prstGeom>
          <a:solidFill>
            <a:srgbClr val="142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38900" y="4076699"/>
            <a:ext cx="4953000" cy="337566"/>
          </a:xfrm>
          <a:prstGeom prst="rect">
            <a:avLst/>
          </a:prstGeom>
          <a:noFill/>
        </p:spPr>
        <p:txBody>
          <a:bodyPr wrap="none" lIns="0" rIns="0" tIns="0" bIns="0">
            <a:spAutoFit/>
          </a:bodyPr>
          <a:lstStyle/>
          <a:p>
            <a:pPr>
              <a:spcAft>
                <a:spcPts val="324"/>
              </a:spcAft>
              <a:defRPr sz="1080" b="1">
                <a:solidFill>
                  <a:srgbClr val="56E3CF"/>
                </a:solidFill>
                <a:latin typeface="DejaVu Sans"/>
              </a:defRPr>
            </a:pPr>
            <a:r>
              <a:t>EXTERNAL SERVICES</a:t>
            </a:r>
          </a:p>
        </p:txBody>
      </p:sp>
      <p:sp>
        <p:nvSpPr>
          <p:cNvPr id="22" name="TextBox 21"/>
          <p:cNvSpPr txBox="1"/>
          <p:nvPr/>
        </p:nvSpPr>
        <p:spPr>
          <a:xfrm>
            <a:off x="6438900" y="4404360"/>
            <a:ext cx="4953000" cy="543306"/>
          </a:xfrm>
          <a:prstGeom prst="rect">
            <a:avLst/>
          </a:prstGeom>
          <a:noFill/>
        </p:spPr>
        <p:txBody>
          <a:bodyPr wrap="none" lIns="0" rIns="0" tIns="0" bIns="0">
            <a:spAutoFit/>
          </a:bodyPr>
          <a:lstStyle/>
          <a:p>
            <a:pPr>
              <a:spcAft>
                <a:spcPts val="684"/>
              </a:spcAft>
              <a:defRPr sz="2280" b="1">
                <a:solidFill>
                  <a:srgbClr val="F1F6F7"/>
                </a:solidFill>
                <a:latin typeface="DejaVu Sans"/>
              </a:defRPr>
            </a:pPr>
            <a:r>
              <a:t>Maps + hosted AI</a:t>
            </a:r>
          </a:p>
        </p:txBody>
      </p:sp>
      <p:sp>
        <p:nvSpPr>
          <p:cNvPr id="23" name="TextBox 22"/>
          <p:cNvSpPr txBox="1"/>
          <p:nvPr/>
        </p:nvSpPr>
        <p:spPr>
          <a:xfrm>
            <a:off x="6438900" y="4914900"/>
            <a:ext cx="4953000" cy="430149"/>
          </a:xfrm>
          <a:prstGeom prst="rect">
            <a:avLst/>
          </a:prstGeom>
          <a:noFill/>
        </p:spPr>
        <p:txBody>
          <a:bodyPr wrap="none" lIns="0" rIns="0" tIns="0" bIns="0">
            <a:spAutoFit/>
          </a:bodyPr>
          <a:lstStyle/>
          <a:p>
            <a:pPr>
              <a:spcAft>
                <a:spcPts val="485"/>
              </a:spcAft>
              <a:defRPr sz="1620" b="0">
                <a:solidFill>
                  <a:srgbClr val="ABC1CA"/>
                </a:solidFill>
                <a:latin typeface="DejaVu Sans"/>
              </a:defRPr>
            </a:pPr>
            <a:r>
              <a:t>Honest failure states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820"/>
        </a:solidFill>
        <a:effectLst/>
      </p:bgPr>
    </p:bg>
    <p:spTree>
      <p:nvGrpSpPr>
        <p:cNvPr id="1" name=""/>
        <p:cNvGrpSpPr/>
        <p:nvPr/>
      </p:nvGrpSpPr>
      <p:grpSpPr/>
      <p:sp>
        <p:nvSpPr>
          <p:cNvPr id="2" name="TextBox 1"/>
          <p:cNvSpPr txBox="1"/>
          <p:nvPr/>
        </p:nvSpPr>
        <p:spPr>
          <a:xfrm>
            <a:off x="495299" y="266700"/>
            <a:ext cx="2667000" cy="409575"/>
          </a:xfrm>
          <a:prstGeom prst="rect">
            <a:avLst/>
          </a:prstGeom>
          <a:noFill/>
        </p:spPr>
        <p:txBody>
          <a:bodyPr wrap="none" lIns="0" rIns="0" tIns="0" bIns="0">
            <a:spAutoFit/>
          </a:bodyPr>
          <a:lstStyle/>
          <a:p>
            <a:pPr>
              <a:spcAft>
                <a:spcPts val="450"/>
              </a:spcAft>
              <a:defRPr sz="1500" b="1">
                <a:solidFill>
                  <a:srgbClr val="56E3CF"/>
                </a:solidFill>
                <a:latin typeface="DejaVu Sans"/>
              </a:defRPr>
            </a:pPr>
            <a:r>
              <a:t>ReachAI</a:t>
            </a:r>
          </a:p>
        </p:txBody>
      </p:sp>
      <p:sp>
        <p:nvSpPr>
          <p:cNvPr id="3" name="TextBox 2"/>
          <p:cNvSpPr txBox="1"/>
          <p:nvPr/>
        </p:nvSpPr>
        <p:spPr>
          <a:xfrm>
            <a:off x="6629400" y="297180"/>
            <a:ext cx="5029200" cy="327279"/>
          </a:xfrm>
          <a:prstGeom prst="rect">
            <a:avLst/>
          </a:prstGeom>
          <a:noFill/>
        </p:spPr>
        <p:txBody>
          <a:bodyPr wrap="none" lIns="0" rIns="0" tIns="0" bIns="0">
            <a:spAutoFit/>
          </a:bodyPr>
          <a:lstStyle/>
          <a:p>
            <a:pPr>
              <a:spcAft>
                <a:spcPts val="306"/>
              </a:spcAft>
              <a:defRPr sz="1019" b="0">
                <a:solidFill>
                  <a:srgbClr val="ABC1CA"/>
                </a:solidFill>
                <a:latin typeface="DejaVu Sans"/>
              </a:defRPr>
            </a:pPr>
            <a:r>
              <a:t>EVIDENCE / LIMITS</a:t>
            </a:r>
          </a:p>
        </p:txBody>
      </p:sp>
      <p:sp>
        <p:nvSpPr>
          <p:cNvPr id="4" name="Rectangle 3"/>
          <p:cNvSpPr/>
          <p:nvPr/>
        </p:nvSpPr>
        <p:spPr>
          <a:xfrm>
            <a:off x="495299" y="693420"/>
            <a:ext cx="11201400" cy="15240"/>
          </a:xfrm>
          <a:prstGeom prst="rect">
            <a:avLst/>
          </a:prstGeom>
          <a:solidFill>
            <a:srgbClr val="2C46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5299" y="1028700"/>
            <a:ext cx="10934700" cy="707898"/>
          </a:xfrm>
          <a:prstGeom prst="rect">
            <a:avLst/>
          </a:prstGeom>
          <a:noFill/>
        </p:spPr>
        <p:txBody>
          <a:bodyPr wrap="none" lIns="0" rIns="0" tIns="0" bIns="0">
            <a:spAutoFit/>
          </a:bodyPr>
          <a:lstStyle/>
          <a:p>
            <a:pPr>
              <a:spcAft>
                <a:spcPts val="971"/>
              </a:spcAft>
              <a:defRPr sz="3240" b="1">
                <a:solidFill>
                  <a:srgbClr val="F1F6F7"/>
                </a:solidFill>
                <a:latin typeface="DejaVu Sans"/>
              </a:defRPr>
            </a:pPr>
            <a:r>
              <a:t>Tested software. More fieldwork ahead.</a:t>
            </a:r>
          </a:p>
        </p:txBody>
      </p:sp>
      <p:sp>
        <p:nvSpPr>
          <p:cNvPr id="6" name="TextBox 5"/>
          <p:cNvSpPr txBox="1"/>
          <p:nvPr/>
        </p:nvSpPr>
        <p:spPr>
          <a:xfrm>
            <a:off x="495299" y="6522720"/>
            <a:ext cx="7620000" cy="306705"/>
          </a:xfrm>
          <a:prstGeom prst="rect">
            <a:avLst/>
          </a:prstGeom>
          <a:noFill/>
        </p:spPr>
        <p:txBody>
          <a:bodyPr wrap="none" lIns="0" rIns="0" tIns="0" bIns="0">
            <a:spAutoFit/>
          </a:bodyPr>
          <a:lstStyle/>
          <a:p>
            <a:pPr>
              <a:spcAft>
                <a:spcPts val="270"/>
              </a:spcAft>
              <a:defRPr sz="900" b="0">
                <a:solidFill>
                  <a:srgbClr val="ABC1CA"/>
                </a:solidFill>
                <a:latin typeface="DejaVu Sans"/>
              </a:defRPr>
            </a:pPr>
            <a:r>
              <a:t>CONGRESSIONAL APP CHALLENGE</a:t>
            </a:r>
          </a:p>
        </p:txBody>
      </p:sp>
      <p:sp>
        <p:nvSpPr>
          <p:cNvPr id="7" name="TextBox 6"/>
          <p:cNvSpPr txBox="1"/>
          <p:nvPr/>
        </p:nvSpPr>
        <p:spPr>
          <a:xfrm>
            <a:off x="11125200" y="6477000"/>
            <a:ext cx="495299" cy="378714"/>
          </a:xfrm>
          <a:prstGeom prst="rect">
            <a:avLst/>
          </a:prstGeom>
          <a:noFill/>
        </p:spPr>
        <p:txBody>
          <a:bodyPr wrap="none" lIns="0" rIns="0" tIns="0" bIns="0">
            <a:spAutoFit/>
          </a:bodyPr>
          <a:lstStyle/>
          <a:p>
            <a:pPr>
              <a:spcAft>
                <a:spcPts val="396"/>
              </a:spcAft>
              <a:defRPr sz="1320" b="0">
                <a:solidFill>
                  <a:srgbClr val="56E3CF"/>
                </a:solidFill>
                <a:latin typeface="DejaVu Sans"/>
              </a:defRPr>
            </a:pPr>
            <a:r>
              <a:t>09</a:t>
            </a:r>
          </a:p>
        </p:txBody>
      </p:sp>
      <p:sp>
        <p:nvSpPr>
          <p:cNvPr id="8" name="Rounded Rectangle 7"/>
          <p:cNvSpPr/>
          <p:nvPr/>
        </p:nvSpPr>
        <p:spPr>
          <a:xfrm>
            <a:off x="495299" y="2019300"/>
            <a:ext cx="5486400" cy="3429000"/>
          </a:xfrm>
          <a:prstGeom prst="roundRect">
            <a:avLst/>
          </a:prstGeom>
          <a:solidFill>
            <a:srgbClr val="142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2000" y="2286000"/>
            <a:ext cx="4800600" cy="1232535"/>
          </a:xfrm>
          <a:prstGeom prst="rect">
            <a:avLst/>
          </a:prstGeom>
          <a:noFill/>
        </p:spPr>
        <p:txBody>
          <a:bodyPr wrap="none" lIns="0" rIns="0" tIns="0" bIns="0">
            <a:spAutoFit/>
          </a:bodyPr>
          <a:lstStyle/>
          <a:p>
            <a:pPr>
              <a:spcAft>
                <a:spcPts val="1889"/>
              </a:spcAft>
              <a:defRPr sz="6300" b="1">
                <a:solidFill>
                  <a:srgbClr val="56E3CF"/>
                </a:solidFill>
                <a:latin typeface="DejaVu Sans"/>
              </a:defRPr>
            </a:pPr>
            <a:r>
              <a:t>661</a:t>
            </a:r>
          </a:p>
        </p:txBody>
      </p:sp>
      <p:sp>
        <p:nvSpPr>
          <p:cNvPr id="10" name="TextBox 9"/>
          <p:cNvSpPr txBox="1"/>
          <p:nvPr/>
        </p:nvSpPr>
        <p:spPr>
          <a:xfrm>
            <a:off x="800100" y="3276600"/>
            <a:ext cx="4724400" cy="512445"/>
          </a:xfrm>
          <a:prstGeom prst="rect">
            <a:avLst/>
          </a:prstGeom>
          <a:noFill/>
        </p:spPr>
        <p:txBody>
          <a:bodyPr wrap="none" lIns="0" rIns="0" tIns="0" bIns="0">
            <a:spAutoFit/>
          </a:bodyPr>
          <a:lstStyle/>
          <a:p>
            <a:pPr>
              <a:spcAft>
                <a:spcPts val="630"/>
              </a:spcAft>
              <a:defRPr sz="2100" b="1">
                <a:solidFill>
                  <a:srgbClr val="F1F6F7"/>
                </a:solidFill>
                <a:latin typeface="DejaVu Sans"/>
              </a:defRPr>
            </a:pPr>
            <a:r>
              <a:t>unit tests passed</a:t>
            </a:r>
          </a:p>
        </p:txBody>
      </p:sp>
      <p:sp>
        <p:nvSpPr>
          <p:cNvPr id="11" name="TextBox 10"/>
          <p:cNvSpPr txBox="1"/>
          <p:nvPr/>
        </p:nvSpPr>
        <p:spPr>
          <a:xfrm>
            <a:off x="800100" y="4076699"/>
            <a:ext cx="4724400" cy="707898"/>
          </a:xfrm>
          <a:prstGeom prst="rect">
            <a:avLst/>
          </a:prstGeom>
          <a:noFill/>
        </p:spPr>
        <p:txBody>
          <a:bodyPr wrap="none" lIns="0" rIns="0" tIns="0" bIns="0">
            <a:spAutoFit/>
          </a:bodyPr>
          <a:lstStyle/>
          <a:p>
            <a:pPr>
              <a:spcAft>
                <a:spcPts val="485"/>
              </a:spcAft>
              <a:defRPr sz="1620" b="0">
                <a:solidFill>
                  <a:srgbClr val="ABC1CA"/>
                </a:solidFill>
                <a:latin typeface="DejaVu Sans"/>
              </a:defRPr>
            </a:pPr>
            <a:r>
              <a:t>Latest UI check: 14 mobile / desktop checks</a:t>
            </a:r>
          </a:p>
          <a:p>
            <a:pPr>
              <a:spcAft>
                <a:spcPts val="485"/>
              </a:spcAft>
              <a:defRPr sz="1620" b="0">
                <a:solidFill>
                  <a:srgbClr val="ABC1CA"/>
                </a:solidFill>
                <a:latin typeface="DejaVu Sans"/>
              </a:defRPr>
            </a:pPr>
            <a:r>
              <a:t>TypeScript + production build passed</a:t>
            </a:r>
          </a:p>
        </p:txBody>
      </p:sp>
      <p:sp>
        <p:nvSpPr>
          <p:cNvPr id="12" name="TextBox 11"/>
          <p:cNvSpPr txBox="1"/>
          <p:nvPr/>
        </p:nvSpPr>
        <p:spPr>
          <a:xfrm>
            <a:off x="6629400" y="2133600"/>
            <a:ext cx="4876800" cy="594741"/>
          </a:xfrm>
          <a:prstGeom prst="rect">
            <a:avLst/>
          </a:prstGeom>
          <a:noFill/>
        </p:spPr>
        <p:txBody>
          <a:bodyPr wrap="none" lIns="0" rIns="0" tIns="0" bIns="0">
            <a:spAutoFit/>
          </a:bodyPr>
          <a:lstStyle/>
          <a:p>
            <a:pPr>
              <a:spcAft>
                <a:spcPts val="773"/>
              </a:spcAft>
              <a:defRPr sz="2580" b="1">
                <a:solidFill>
                  <a:srgbClr val="F1F6F7"/>
                </a:solidFill>
                <a:latin typeface="DejaVu Sans"/>
              </a:defRPr>
            </a:pPr>
            <a:r>
              <a:t>Next priorities</a:t>
            </a:r>
          </a:p>
        </p:txBody>
      </p:sp>
      <p:sp>
        <p:nvSpPr>
          <p:cNvPr id="13" name="TextBox 12"/>
          <p:cNvSpPr txBox="1"/>
          <p:nvPr/>
        </p:nvSpPr>
        <p:spPr>
          <a:xfrm>
            <a:off x="6667500" y="2933700"/>
            <a:ext cx="4876800" cy="1139952"/>
          </a:xfrm>
          <a:prstGeom prst="rect">
            <a:avLst/>
          </a:prstGeom>
          <a:noFill/>
        </p:spPr>
        <p:txBody>
          <a:bodyPr wrap="none" lIns="0" rIns="0" tIns="0" bIns="0">
            <a:spAutoFit/>
          </a:bodyPr>
          <a:lstStyle/>
          <a:p>
            <a:pPr>
              <a:spcAft>
                <a:spcPts val="576"/>
              </a:spcAft>
              <a:defRPr sz="1920" b="0">
                <a:solidFill>
                  <a:srgbClr val="ABC1CA"/>
                </a:solidFill>
                <a:latin typeface="DejaVu Sans"/>
              </a:defRPr>
            </a:pPr>
            <a:r>
              <a:t>Test with real users.</a:t>
            </a:r>
          </a:p>
          <a:p>
            <a:pPr>
              <a:spcAft>
                <a:spcPts val="576"/>
              </a:spcAft>
              <a:defRPr sz="1920" b="0">
                <a:solidFill>
                  <a:srgbClr val="ABC1CA"/>
                </a:solidFill>
                <a:latin typeface="DejaVu Sans"/>
              </a:defRPr>
            </a:pPr>
            <a:r>
              <a:t>Confirm pickup details with providers.</a:t>
            </a:r>
          </a:p>
          <a:p>
            <a:pPr>
              <a:spcAft>
                <a:spcPts val="576"/>
              </a:spcAft>
              <a:defRPr sz="1920" b="0">
                <a:solidFill>
                  <a:srgbClr val="ABC1CA"/>
                </a:solidFill>
                <a:latin typeface="DejaVu Sans"/>
              </a:defRPr>
            </a:pPr>
            <a:r>
              <a:t>Verify the deployed demo end to end.</a:t>
            </a:r>
          </a:p>
        </p:txBody>
      </p:sp>
      <p:sp>
        <p:nvSpPr>
          <p:cNvPr id="14" name="TextBox 13"/>
          <p:cNvSpPr txBox="1"/>
          <p:nvPr/>
        </p:nvSpPr>
        <p:spPr>
          <a:xfrm>
            <a:off x="6667500" y="4800600"/>
            <a:ext cx="4724400" cy="666750"/>
          </a:xfrm>
          <a:prstGeom prst="rect">
            <a:avLst/>
          </a:prstGeom>
          <a:noFill/>
        </p:spPr>
        <p:txBody>
          <a:bodyPr wrap="none" lIns="0" rIns="0" tIns="0" bIns="0">
            <a:spAutoFit/>
          </a:bodyPr>
          <a:lstStyle/>
          <a:p>
            <a:pPr>
              <a:spcAft>
                <a:spcPts val="450"/>
              </a:spcAft>
              <a:defRPr sz="1500" b="0">
                <a:solidFill>
                  <a:srgbClr val="56E3CF"/>
                </a:solidFill>
                <a:latin typeface="DejaVu Sans"/>
              </a:defRPr>
            </a:pPr>
            <a:r>
              <a:t>Tests do not prove food availability or real-world</a:t>
            </a:r>
          </a:p>
          <a:p>
            <a:pPr>
              <a:spcAft>
                <a:spcPts val="450"/>
              </a:spcAft>
              <a:defRPr sz="1500" b="0">
                <a:solidFill>
                  <a:srgbClr val="56E3CF"/>
                </a:solidFill>
                <a:latin typeface="DejaVu Sans"/>
              </a:defRPr>
            </a:pPr>
            <a:r>
              <a:t>impact.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820"/>
        </a:solidFill>
        <a:effectLst/>
      </p:bgPr>
    </p:bg>
    <p:spTree>
      <p:nvGrpSpPr>
        <p:cNvPr id="1" name=""/>
        <p:cNvGrpSpPr/>
        <p:nvPr/>
      </p:nvGrpSpPr>
      <p:grpSpPr/>
      <p:sp>
        <p:nvSpPr>
          <p:cNvPr id="2" name="TextBox 1"/>
          <p:cNvSpPr txBox="1"/>
          <p:nvPr/>
        </p:nvSpPr>
        <p:spPr>
          <a:xfrm>
            <a:off x="495299" y="266700"/>
            <a:ext cx="2667000" cy="409575"/>
          </a:xfrm>
          <a:prstGeom prst="rect">
            <a:avLst/>
          </a:prstGeom>
          <a:noFill/>
        </p:spPr>
        <p:txBody>
          <a:bodyPr wrap="none" lIns="0" rIns="0" tIns="0" bIns="0">
            <a:spAutoFit/>
          </a:bodyPr>
          <a:lstStyle/>
          <a:p>
            <a:pPr>
              <a:spcAft>
                <a:spcPts val="450"/>
              </a:spcAft>
              <a:defRPr sz="1500" b="1">
                <a:solidFill>
                  <a:srgbClr val="56E3CF"/>
                </a:solidFill>
                <a:latin typeface="DejaVu Sans"/>
              </a:defRPr>
            </a:pPr>
            <a:r>
              <a:t>ReachAI</a:t>
            </a:r>
          </a:p>
        </p:txBody>
      </p:sp>
      <p:sp>
        <p:nvSpPr>
          <p:cNvPr id="3" name="TextBox 2"/>
          <p:cNvSpPr txBox="1"/>
          <p:nvPr/>
        </p:nvSpPr>
        <p:spPr>
          <a:xfrm>
            <a:off x="6629400" y="297180"/>
            <a:ext cx="5029200" cy="327279"/>
          </a:xfrm>
          <a:prstGeom prst="rect">
            <a:avLst/>
          </a:prstGeom>
          <a:noFill/>
        </p:spPr>
        <p:txBody>
          <a:bodyPr wrap="none" lIns="0" rIns="0" tIns="0" bIns="0">
            <a:spAutoFit/>
          </a:bodyPr>
          <a:lstStyle/>
          <a:p>
            <a:pPr>
              <a:spcAft>
                <a:spcPts val="306"/>
              </a:spcAft>
              <a:defRPr sz="1019" b="0">
                <a:solidFill>
                  <a:srgbClr val="ABC1CA"/>
                </a:solidFill>
                <a:latin typeface="DejaVu Sans"/>
              </a:defRPr>
            </a:pPr>
            <a:r>
              <a:t>THE GOAL</a:t>
            </a:r>
          </a:p>
        </p:txBody>
      </p:sp>
      <p:sp>
        <p:nvSpPr>
          <p:cNvPr id="4" name="Rectangle 3"/>
          <p:cNvSpPr/>
          <p:nvPr/>
        </p:nvSpPr>
        <p:spPr>
          <a:xfrm>
            <a:off x="495299" y="693420"/>
            <a:ext cx="11201400" cy="15240"/>
          </a:xfrm>
          <a:prstGeom prst="rect">
            <a:avLst/>
          </a:prstGeom>
          <a:solidFill>
            <a:srgbClr val="2C46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5299" y="6522720"/>
            <a:ext cx="7620000" cy="306705"/>
          </a:xfrm>
          <a:prstGeom prst="rect">
            <a:avLst/>
          </a:prstGeom>
          <a:noFill/>
        </p:spPr>
        <p:txBody>
          <a:bodyPr wrap="none" lIns="0" rIns="0" tIns="0" bIns="0">
            <a:spAutoFit/>
          </a:bodyPr>
          <a:lstStyle/>
          <a:p>
            <a:pPr>
              <a:spcAft>
                <a:spcPts val="270"/>
              </a:spcAft>
              <a:defRPr sz="900" b="0">
                <a:solidFill>
                  <a:srgbClr val="ABC1CA"/>
                </a:solidFill>
                <a:latin typeface="DejaVu Sans"/>
              </a:defRPr>
            </a:pPr>
            <a:r>
              <a:t>CONGRESSIONAL APP CHALLENGE</a:t>
            </a:r>
          </a:p>
        </p:txBody>
      </p:sp>
      <p:sp>
        <p:nvSpPr>
          <p:cNvPr id="6" name="TextBox 5"/>
          <p:cNvSpPr txBox="1"/>
          <p:nvPr/>
        </p:nvSpPr>
        <p:spPr>
          <a:xfrm>
            <a:off x="11125200" y="6477000"/>
            <a:ext cx="495299" cy="378714"/>
          </a:xfrm>
          <a:prstGeom prst="rect">
            <a:avLst/>
          </a:prstGeom>
          <a:noFill/>
        </p:spPr>
        <p:txBody>
          <a:bodyPr wrap="none" lIns="0" rIns="0" tIns="0" bIns="0">
            <a:spAutoFit/>
          </a:bodyPr>
          <a:lstStyle/>
          <a:p>
            <a:pPr>
              <a:spcAft>
                <a:spcPts val="396"/>
              </a:spcAft>
              <a:defRPr sz="1320" b="0">
                <a:solidFill>
                  <a:srgbClr val="56E3CF"/>
                </a:solidFill>
                <a:latin typeface="DejaVu Sans"/>
              </a:defRPr>
            </a:pPr>
            <a:r>
              <a:t>10</a:t>
            </a:r>
          </a:p>
        </p:txBody>
      </p:sp>
      <p:sp>
        <p:nvSpPr>
          <p:cNvPr id="7" name="TextBox 6"/>
          <p:cNvSpPr txBox="1"/>
          <p:nvPr/>
        </p:nvSpPr>
        <p:spPr>
          <a:xfrm>
            <a:off x="571500" y="1866899"/>
            <a:ext cx="11049000" cy="1860042"/>
          </a:xfrm>
          <a:prstGeom prst="rect">
            <a:avLst/>
          </a:prstGeom>
          <a:noFill/>
        </p:spPr>
        <p:txBody>
          <a:bodyPr wrap="none" lIns="0" rIns="0" tIns="0" bIns="0">
            <a:spAutoFit/>
          </a:bodyPr>
          <a:lstStyle/>
          <a:p>
            <a:pPr>
              <a:spcAft>
                <a:spcPts val="1494"/>
              </a:spcAft>
              <a:defRPr sz="4980" b="1">
                <a:solidFill>
                  <a:srgbClr val="F1F6F7"/>
                </a:solidFill>
                <a:latin typeface="DejaVu Sans"/>
              </a:defRPr>
            </a:pPr>
            <a:r>
              <a:t>From “I need food”</a:t>
            </a:r>
          </a:p>
          <a:p>
            <a:pPr>
              <a:spcAft>
                <a:spcPts val="1494"/>
              </a:spcAft>
              <a:defRPr sz="4980" b="1">
                <a:solidFill>
                  <a:srgbClr val="F1F6F7"/>
                </a:solidFill>
                <a:latin typeface="DejaVu Sans"/>
              </a:defRPr>
            </a:pPr>
            <a:r>
              <a:t>to a practical next step.</a:t>
            </a:r>
          </a:p>
        </p:txBody>
      </p:sp>
      <p:sp>
        <p:nvSpPr>
          <p:cNvPr id="8" name="TextBox 7"/>
          <p:cNvSpPr txBox="1"/>
          <p:nvPr/>
        </p:nvSpPr>
        <p:spPr>
          <a:xfrm>
            <a:off x="609600" y="4076699"/>
            <a:ext cx="10668000" cy="934212"/>
          </a:xfrm>
          <a:prstGeom prst="rect">
            <a:avLst/>
          </a:prstGeom>
          <a:noFill/>
        </p:spPr>
        <p:txBody>
          <a:bodyPr wrap="none" lIns="0" rIns="0" tIns="0" bIns="0">
            <a:spAutoFit/>
          </a:bodyPr>
          <a:lstStyle/>
          <a:p>
            <a:pPr>
              <a:spcAft>
                <a:spcPts val="1368"/>
              </a:spcAft>
              <a:defRPr sz="4560" b="1">
                <a:solidFill>
                  <a:srgbClr val="56E3CF"/>
                </a:solidFill>
                <a:latin typeface="DejaVu Sans"/>
              </a:defRPr>
            </a:pPr>
            <a:r>
              <a:t>ReachAI</a:t>
            </a:r>
          </a:p>
        </p:txBody>
      </p:sp>
      <p:sp>
        <p:nvSpPr>
          <p:cNvPr id="9" name="TextBox 8"/>
          <p:cNvSpPr txBox="1"/>
          <p:nvPr/>
        </p:nvSpPr>
        <p:spPr>
          <a:xfrm>
            <a:off x="647700" y="5143500"/>
            <a:ext cx="10287000" cy="522732"/>
          </a:xfrm>
          <a:prstGeom prst="rect">
            <a:avLst/>
          </a:prstGeom>
          <a:noFill/>
        </p:spPr>
        <p:txBody>
          <a:bodyPr wrap="none" lIns="0" rIns="0" tIns="0" bIns="0">
            <a:spAutoFit/>
          </a:bodyPr>
          <a:lstStyle/>
          <a:p>
            <a:pPr>
              <a:spcAft>
                <a:spcPts val="648"/>
              </a:spcAft>
              <a:defRPr sz="2160" b="1">
                <a:solidFill>
                  <a:srgbClr val="F1F6F7"/>
                </a:solidFill>
                <a:latin typeface="DejaVu Sans"/>
              </a:defRPr>
            </a:pPr>
            <a:r>
              <a:t>Raman Jamal + Aran Jamal</a:t>
            </a:r>
          </a:p>
        </p:txBody>
      </p:sp>
      <p:sp>
        <p:nvSpPr>
          <p:cNvPr id="10" name="TextBox 9"/>
          <p:cNvSpPr txBox="1"/>
          <p:nvPr/>
        </p:nvSpPr>
        <p:spPr>
          <a:xfrm>
            <a:off x="647700" y="5676900"/>
            <a:ext cx="10287000" cy="440436"/>
          </a:xfrm>
          <a:prstGeom prst="rect">
            <a:avLst/>
          </a:prstGeom>
          <a:noFill/>
        </p:spPr>
        <p:txBody>
          <a:bodyPr wrap="none" lIns="0" rIns="0" tIns="0" bIns="0">
            <a:spAutoFit/>
          </a:bodyPr>
          <a:lstStyle/>
          <a:p>
            <a:pPr>
              <a:spcAft>
                <a:spcPts val="504"/>
              </a:spcAft>
              <a:defRPr sz="1680" b="0">
                <a:solidFill>
                  <a:srgbClr val="ABC1CA"/>
                </a:solidFill>
                <a:latin typeface="DejaVu Sans"/>
              </a:defRPr>
            </a:pPr>
            <a:r>
              <a:t>Thank you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820"/>
        </a:solidFill>
        <a:effectLst/>
      </p:bgPr>
    </p:bg>
    <p:spTree>
      <p:nvGrpSpPr>
        <p:cNvPr id="1" name=""/>
        <p:cNvGrpSpPr/>
        <p:nvPr/>
      </p:nvGrpSpPr>
      <p:grpSpPr/>
      <p:sp>
        <p:nvSpPr>
          <p:cNvPr id="2" name="TextBox 1"/>
          <p:cNvSpPr txBox="1"/>
          <p:nvPr/>
        </p:nvSpPr>
        <p:spPr>
          <a:xfrm>
            <a:off x="495299" y="266700"/>
            <a:ext cx="2667000" cy="409575"/>
          </a:xfrm>
          <a:prstGeom prst="rect">
            <a:avLst/>
          </a:prstGeom>
          <a:noFill/>
        </p:spPr>
        <p:txBody>
          <a:bodyPr wrap="none" lIns="0" rIns="0" tIns="0" bIns="0">
            <a:spAutoFit/>
          </a:bodyPr>
          <a:lstStyle/>
          <a:p>
            <a:pPr>
              <a:spcAft>
                <a:spcPts val="450"/>
              </a:spcAft>
              <a:defRPr sz="1500" b="1">
                <a:solidFill>
                  <a:srgbClr val="56E3CF"/>
                </a:solidFill>
                <a:latin typeface="DejaVu Sans"/>
              </a:defRPr>
            </a:pPr>
            <a:r>
              <a:t>ReachAI</a:t>
            </a:r>
          </a:p>
        </p:txBody>
      </p:sp>
      <p:sp>
        <p:nvSpPr>
          <p:cNvPr id="3" name="TextBox 2"/>
          <p:cNvSpPr txBox="1"/>
          <p:nvPr/>
        </p:nvSpPr>
        <p:spPr>
          <a:xfrm>
            <a:off x="6629400" y="297180"/>
            <a:ext cx="5029200" cy="327279"/>
          </a:xfrm>
          <a:prstGeom prst="rect">
            <a:avLst/>
          </a:prstGeom>
          <a:noFill/>
        </p:spPr>
        <p:txBody>
          <a:bodyPr wrap="none" lIns="0" rIns="0" tIns="0" bIns="0">
            <a:spAutoFit/>
          </a:bodyPr>
          <a:lstStyle/>
          <a:p>
            <a:pPr>
              <a:spcAft>
                <a:spcPts val="306"/>
              </a:spcAft>
              <a:defRPr sz="1019" b="0">
                <a:solidFill>
                  <a:srgbClr val="ABC1CA"/>
                </a:solidFill>
                <a:latin typeface="DejaVu Sans"/>
              </a:defRPr>
            </a:pPr>
            <a:r>
              <a:t>APPENDIX / SOURCES</a:t>
            </a:r>
          </a:p>
        </p:txBody>
      </p:sp>
      <p:sp>
        <p:nvSpPr>
          <p:cNvPr id="4" name="Rectangle 3"/>
          <p:cNvSpPr/>
          <p:nvPr/>
        </p:nvSpPr>
        <p:spPr>
          <a:xfrm>
            <a:off x="495299" y="693420"/>
            <a:ext cx="11201400" cy="15240"/>
          </a:xfrm>
          <a:prstGeom prst="rect">
            <a:avLst/>
          </a:prstGeom>
          <a:solidFill>
            <a:srgbClr val="2C46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5299" y="1028700"/>
            <a:ext cx="10934700" cy="707898"/>
          </a:xfrm>
          <a:prstGeom prst="rect">
            <a:avLst/>
          </a:prstGeom>
          <a:noFill/>
        </p:spPr>
        <p:txBody>
          <a:bodyPr wrap="none" lIns="0" rIns="0" tIns="0" bIns="0">
            <a:spAutoFit/>
          </a:bodyPr>
          <a:lstStyle/>
          <a:p>
            <a:pPr>
              <a:spcAft>
                <a:spcPts val="971"/>
              </a:spcAft>
              <a:defRPr sz="3240" b="1">
                <a:solidFill>
                  <a:srgbClr val="F1F6F7"/>
                </a:solidFill>
                <a:latin typeface="DejaVu Sans"/>
              </a:defRPr>
            </a:pPr>
            <a:r>
              <a:t>Evidence behind the presentation</a:t>
            </a:r>
          </a:p>
        </p:txBody>
      </p:sp>
      <p:sp>
        <p:nvSpPr>
          <p:cNvPr id="6" name="TextBox 5"/>
          <p:cNvSpPr txBox="1"/>
          <p:nvPr/>
        </p:nvSpPr>
        <p:spPr>
          <a:xfrm>
            <a:off x="495299" y="6522720"/>
            <a:ext cx="7620000" cy="306705"/>
          </a:xfrm>
          <a:prstGeom prst="rect">
            <a:avLst/>
          </a:prstGeom>
          <a:noFill/>
        </p:spPr>
        <p:txBody>
          <a:bodyPr wrap="none" lIns="0" rIns="0" tIns="0" bIns="0">
            <a:spAutoFit/>
          </a:bodyPr>
          <a:lstStyle/>
          <a:p>
            <a:pPr>
              <a:spcAft>
                <a:spcPts val="270"/>
              </a:spcAft>
              <a:defRPr sz="900" b="0">
                <a:solidFill>
                  <a:srgbClr val="ABC1CA"/>
                </a:solidFill>
                <a:latin typeface="DejaVu Sans"/>
              </a:defRPr>
            </a:pPr>
            <a:r>
              <a:t>CONGRESSIONAL APP CHALLENGE</a:t>
            </a:r>
          </a:p>
        </p:txBody>
      </p:sp>
      <p:sp>
        <p:nvSpPr>
          <p:cNvPr id="7" name="TextBox 6"/>
          <p:cNvSpPr txBox="1"/>
          <p:nvPr/>
        </p:nvSpPr>
        <p:spPr>
          <a:xfrm>
            <a:off x="11125200" y="6477000"/>
            <a:ext cx="495299" cy="378714"/>
          </a:xfrm>
          <a:prstGeom prst="rect">
            <a:avLst/>
          </a:prstGeom>
          <a:noFill/>
        </p:spPr>
        <p:txBody>
          <a:bodyPr wrap="none" lIns="0" rIns="0" tIns="0" bIns="0">
            <a:spAutoFit/>
          </a:bodyPr>
          <a:lstStyle/>
          <a:p>
            <a:pPr>
              <a:spcAft>
                <a:spcPts val="396"/>
              </a:spcAft>
              <a:defRPr sz="1320" b="0">
                <a:solidFill>
                  <a:srgbClr val="56E3CF"/>
                </a:solidFill>
                <a:latin typeface="DejaVu Sans"/>
              </a:defRPr>
            </a:pPr>
            <a:r>
              <a:t>11</a:t>
            </a:r>
          </a:p>
        </p:txBody>
      </p:sp>
      <p:sp>
        <p:nvSpPr>
          <p:cNvPr id="8" name="TextBox 7"/>
          <p:cNvSpPr txBox="1"/>
          <p:nvPr/>
        </p:nvSpPr>
        <p:spPr>
          <a:xfrm>
            <a:off x="571500" y="1905000"/>
            <a:ext cx="11049000" cy="461010"/>
          </a:xfrm>
          <a:prstGeom prst="rect">
            <a:avLst/>
          </a:prstGeom>
          <a:noFill/>
        </p:spPr>
        <p:txBody>
          <a:bodyPr wrap="none" lIns="0" rIns="0" tIns="0" bIns="0">
            <a:spAutoFit/>
          </a:bodyPr>
          <a:lstStyle/>
          <a:p>
            <a:pPr>
              <a:spcAft>
                <a:spcPts val="540"/>
              </a:spcAft>
              <a:defRPr sz="1800" b="1">
                <a:solidFill>
                  <a:srgbClr val="56E3CF"/>
                </a:solidFill>
                <a:latin typeface="DejaVu Sans"/>
              </a:defRPr>
            </a:pPr>
            <a:r>
              <a:t>USDA Economic Research Service</a:t>
            </a:r>
          </a:p>
        </p:txBody>
      </p:sp>
      <p:sp>
        <p:nvSpPr>
          <p:cNvPr id="9" name="TextBox 8"/>
          <p:cNvSpPr txBox="1"/>
          <p:nvPr/>
        </p:nvSpPr>
        <p:spPr>
          <a:xfrm>
            <a:off x="571500" y="2270760"/>
            <a:ext cx="10972800" cy="399288"/>
          </a:xfrm>
          <a:prstGeom prst="rect">
            <a:avLst/>
          </a:prstGeom>
          <a:noFill/>
        </p:spPr>
        <p:txBody>
          <a:bodyPr wrap="none" lIns="0" rIns="0" tIns="0" bIns="0">
            <a:spAutoFit/>
          </a:bodyPr>
          <a:lstStyle/>
          <a:p>
            <a:pPr>
              <a:spcAft>
                <a:spcPts val="432"/>
              </a:spcAft>
              <a:defRPr sz="1439" b="0">
                <a:solidFill>
                  <a:srgbClr val="F1F6F7"/>
                </a:solidFill>
                <a:latin typeface="DejaVu Sans"/>
              </a:defRPr>
            </a:pPr>
            <a:r>
              <a:t>2024: 13.7% of U.S. households; 47.9 million people in food-insecure households.</a:t>
            </a:r>
          </a:p>
        </p:txBody>
      </p:sp>
      <p:sp>
        <p:nvSpPr>
          <p:cNvPr id="10" name="TextBox 9"/>
          <p:cNvSpPr txBox="1"/>
          <p:nvPr/>
        </p:nvSpPr>
        <p:spPr>
          <a:xfrm>
            <a:off x="571500" y="2606040"/>
            <a:ext cx="10972800" cy="327279"/>
          </a:xfrm>
          <a:prstGeom prst="rect">
            <a:avLst/>
          </a:prstGeom>
          <a:noFill/>
        </p:spPr>
        <p:txBody>
          <a:bodyPr wrap="none" lIns="0" rIns="0" tIns="0" bIns="0">
            <a:spAutoFit/>
          </a:bodyPr>
          <a:lstStyle/>
          <a:p>
            <a:pPr>
              <a:spcAft>
                <a:spcPts val="306"/>
              </a:spcAft>
              <a:defRPr sz="1019" b="0">
                <a:solidFill>
                  <a:srgbClr val="ABC1CA"/>
                </a:solidFill>
                <a:latin typeface="DejaVu Sans"/>
              </a:defRPr>
            </a:pPr>
            <a:r>
              <a:t>https://www.ers.usda.gov/topics/food-nutrition-assistance/food-security-in-the-us/key-statistics-graphics</a:t>
            </a:r>
          </a:p>
        </p:txBody>
      </p:sp>
      <p:sp>
        <p:nvSpPr>
          <p:cNvPr id="11" name="TextBox 10"/>
          <p:cNvSpPr txBox="1"/>
          <p:nvPr/>
        </p:nvSpPr>
        <p:spPr>
          <a:xfrm>
            <a:off x="571500" y="3238500"/>
            <a:ext cx="11049000" cy="461010"/>
          </a:xfrm>
          <a:prstGeom prst="rect">
            <a:avLst/>
          </a:prstGeom>
          <a:noFill/>
        </p:spPr>
        <p:txBody>
          <a:bodyPr wrap="none" lIns="0" rIns="0" tIns="0" bIns="0">
            <a:spAutoFit/>
          </a:bodyPr>
          <a:lstStyle/>
          <a:p>
            <a:pPr>
              <a:spcAft>
                <a:spcPts val="540"/>
              </a:spcAft>
              <a:defRPr sz="1800" b="1">
                <a:solidFill>
                  <a:srgbClr val="56E3CF"/>
                </a:solidFill>
                <a:latin typeface="DejaVu Sans"/>
              </a:defRPr>
            </a:pPr>
            <a:r>
              <a:t>Directory source review</a:t>
            </a:r>
          </a:p>
        </p:txBody>
      </p:sp>
      <p:sp>
        <p:nvSpPr>
          <p:cNvPr id="12" name="TextBox 11"/>
          <p:cNvSpPr txBox="1"/>
          <p:nvPr/>
        </p:nvSpPr>
        <p:spPr>
          <a:xfrm>
            <a:off x="571500" y="3604260"/>
            <a:ext cx="10972800" cy="399288"/>
          </a:xfrm>
          <a:prstGeom prst="rect">
            <a:avLst/>
          </a:prstGeom>
          <a:noFill/>
        </p:spPr>
        <p:txBody>
          <a:bodyPr wrap="none" lIns="0" rIns="0" tIns="0" bIns="0">
            <a:spAutoFit/>
          </a:bodyPr>
          <a:lstStyle/>
          <a:p>
            <a:pPr>
              <a:spcAft>
                <a:spcPts val="432"/>
              </a:spcAft>
              <a:defRPr sz="1439" b="0">
                <a:solidFill>
                  <a:srgbClr val="F1F6F7"/>
                </a:solidFill>
                <a:latin typeface="DejaVu Sans"/>
              </a:defRPr>
            </a:pPr>
            <a:r>
              <a:t>66 maintained sites; restrictions and unresolved facts retained.</a:t>
            </a:r>
          </a:p>
        </p:txBody>
      </p:sp>
      <p:sp>
        <p:nvSpPr>
          <p:cNvPr id="13" name="TextBox 12"/>
          <p:cNvSpPr txBox="1"/>
          <p:nvPr/>
        </p:nvSpPr>
        <p:spPr>
          <a:xfrm>
            <a:off x="571500" y="3939540"/>
            <a:ext cx="10972800" cy="327279"/>
          </a:xfrm>
          <a:prstGeom prst="rect">
            <a:avLst/>
          </a:prstGeom>
          <a:noFill/>
        </p:spPr>
        <p:txBody>
          <a:bodyPr wrap="none" lIns="0" rIns="0" tIns="0" bIns="0">
            <a:spAutoFit/>
          </a:bodyPr>
          <a:lstStyle/>
          <a:p>
            <a:pPr>
              <a:spcAft>
                <a:spcPts val="306"/>
              </a:spcAft>
              <a:defRPr sz="1019" b="0">
                <a:solidFill>
                  <a:srgbClr val="ABC1CA"/>
                </a:solidFill>
                <a:latin typeface="DejaVu Sans"/>
              </a:defRPr>
            </a:pPr>
            <a:r>
              <a:t>Repository: docs/TX10-COVERAGE-AUDIT.md and docs/TX10-SIXTY-REVIEW.md</a:t>
            </a:r>
          </a:p>
        </p:txBody>
      </p:sp>
      <p:sp>
        <p:nvSpPr>
          <p:cNvPr id="14" name="TextBox 13"/>
          <p:cNvSpPr txBox="1"/>
          <p:nvPr/>
        </p:nvSpPr>
        <p:spPr>
          <a:xfrm>
            <a:off x="571500" y="4572000"/>
            <a:ext cx="11049000" cy="461010"/>
          </a:xfrm>
          <a:prstGeom prst="rect">
            <a:avLst/>
          </a:prstGeom>
          <a:noFill/>
        </p:spPr>
        <p:txBody>
          <a:bodyPr wrap="none" lIns="0" rIns="0" tIns="0" bIns="0">
            <a:spAutoFit/>
          </a:bodyPr>
          <a:lstStyle/>
          <a:p>
            <a:pPr>
              <a:spcAft>
                <a:spcPts val="540"/>
              </a:spcAft>
              <a:defRPr sz="1800" b="1">
                <a:solidFill>
                  <a:srgbClr val="56E3CF"/>
                </a:solidFill>
                <a:latin typeface="DejaVu Sans"/>
              </a:defRPr>
            </a:pPr>
            <a:r>
              <a:t>Real app screenshots</a:t>
            </a:r>
          </a:p>
        </p:txBody>
      </p:sp>
      <p:sp>
        <p:nvSpPr>
          <p:cNvPr id="15" name="TextBox 14"/>
          <p:cNvSpPr txBox="1"/>
          <p:nvPr/>
        </p:nvSpPr>
        <p:spPr>
          <a:xfrm>
            <a:off x="571500" y="4937760"/>
            <a:ext cx="10972800" cy="399288"/>
          </a:xfrm>
          <a:prstGeom prst="rect">
            <a:avLst/>
          </a:prstGeom>
          <a:noFill/>
        </p:spPr>
        <p:txBody>
          <a:bodyPr wrap="none" lIns="0" rIns="0" tIns="0" bIns="0">
            <a:spAutoFit/>
          </a:bodyPr>
          <a:lstStyle/>
          <a:p>
            <a:pPr>
              <a:spcAft>
                <a:spcPts val="432"/>
              </a:spcAft>
              <a:defRPr sz="1439" b="0">
                <a:solidFill>
                  <a:srgbClr val="F1F6F7"/>
                </a:solidFill>
                <a:latin typeface="DejaVu Sans"/>
              </a:defRPr>
            </a:pPr>
            <a:r>
              <a:t>Captured from the local ReachAI build. No invented AI response or private submission.</a:t>
            </a:r>
          </a:p>
        </p:txBody>
      </p:sp>
      <p:sp>
        <p:nvSpPr>
          <p:cNvPr id="16" name="TextBox 15"/>
          <p:cNvSpPr txBox="1"/>
          <p:nvPr/>
        </p:nvSpPr>
        <p:spPr>
          <a:xfrm>
            <a:off x="571500" y="5273040"/>
            <a:ext cx="10972800" cy="327279"/>
          </a:xfrm>
          <a:prstGeom prst="rect">
            <a:avLst/>
          </a:prstGeom>
          <a:noFill/>
        </p:spPr>
        <p:txBody>
          <a:bodyPr wrap="none" lIns="0" rIns="0" tIns="0" bIns="0">
            <a:spAutoFit/>
          </a:bodyPr>
          <a:lstStyle/>
          <a:p>
            <a:pPr>
              <a:spcAft>
                <a:spcPts val="306"/>
              </a:spcAft>
              <a:defRPr sz="1019" b="0">
                <a:solidFill>
                  <a:srgbClr val="ABC1CA"/>
                </a:solidFill>
                <a:latin typeface="DejaVu Sans"/>
              </a:defRPr>
            </a:pPr>
            <a:r>
              <a:t>Repository: https://github.com/returnedlegend/Reach • branch improve/food-first-experience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